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83" r:id="rId2"/>
    <p:sldId id="257" r:id="rId3"/>
    <p:sldId id="282" r:id="rId4"/>
    <p:sldId id="285" r:id="rId5"/>
    <p:sldId id="278" r:id="rId6"/>
    <p:sldId id="297" r:id="rId7"/>
    <p:sldId id="293" r:id="rId8"/>
    <p:sldId id="296" r:id="rId9"/>
    <p:sldId id="262" r:id="rId10"/>
    <p:sldId id="279" r:id="rId11"/>
    <p:sldId id="264" r:id="rId12"/>
    <p:sldId id="277" r:id="rId13"/>
    <p:sldId id="290" r:id="rId14"/>
    <p:sldId id="291" r:id="rId15"/>
    <p:sldId id="294" r:id="rId16"/>
    <p:sldId id="292" r:id="rId17"/>
    <p:sldId id="295" r:id="rId18"/>
    <p:sldId id="286" r:id="rId19"/>
    <p:sldId id="287" r:id="rId20"/>
    <p:sldId id="280" r:id="rId21"/>
    <p:sldId id="288" r:id="rId22"/>
    <p:sldId id="289"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nika karri" userId="56c40964108344a6" providerId="LiveId" clId="{99D68CE2-9100-431F-AAA8-D4B43C8CB1DD}"/>
    <pc:docChg chg="modSld">
      <pc:chgData name="mounika karri" userId="56c40964108344a6" providerId="LiveId" clId="{99D68CE2-9100-431F-AAA8-D4B43C8CB1DD}" dt="2026-09-10T17:19:35.799" v="9" actId="122"/>
      <pc:docMkLst>
        <pc:docMk/>
      </pc:docMkLst>
      <pc:sldChg chg="addSp modSp mod">
        <pc:chgData name="mounika karri" userId="56c40964108344a6" providerId="LiveId" clId="{99D68CE2-9100-431F-AAA8-D4B43C8CB1DD}" dt="2026-09-10T17:19:35.799" v="9" actId="122"/>
        <pc:sldMkLst>
          <pc:docMk/>
          <pc:sldMk cId="0" sldId="257"/>
        </pc:sldMkLst>
        <pc:graphicFrameChg chg="modGraphic">
          <ac:chgData name="mounika karri" userId="56c40964108344a6" providerId="LiveId" clId="{99D68CE2-9100-431F-AAA8-D4B43C8CB1DD}" dt="2026-09-10T17:19:35.799" v="9" actId="122"/>
          <ac:graphicFrameMkLst>
            <pc:docMk/>
            <pc:sldMk cId="0" sldId="257"/>
            <ac:graphicFrameMk id="96" creationId="{00000000-0000-0000-0000-000000000000}"/>
          </ac:graphicFrameMkLst>
        </pc:graphicFrameChg>
        <pc:picChg chg="add mod">
          <ac:chgData name="mounika karri" userId="56c40964108344a6" providerId="LiveId" clId="{99D68CE2-9100-431F-AAA8-D4B43C8CB1DD}" dt="2026-09-10T17:19:25.236" v="8" actId="1076"/>
          <ac:picMkLst>
            <pc:docMk/>
            <pc:sldMk cId="0" sldId="257"/>
            <ac:picMk id="5" creationId="{2010E7D1-36E1-13A2-128D-F4D496B647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ounika2515/InterviewMate-AI"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138310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err="1"/>
                        <a:t>K.Mounika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mounikakarri50@gmail.com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US" dirty="0"/>
                        <a:t>8978904659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solidFill>
                  <a:srgbClr val="002060"/>
                </a:solidFill>
                <a:highlight>
                  <a:srgbClr val="FFFF00"/>
                </a:highlight>
                <a:latin typeface="Times New Roman"/>
                <a:ea typeface="Times New Roman"/>
                <a:cs typeface="Times New Roman"/>
                <a:sym typeface="Times New Roman"/>
              </a:rPr>
              <a:t>Interview Mate AI</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2010E7D1-36E1-13A2-128D-F4D496B647FF}"/>
              </a:ext>
            </a:extLst>
          </p:cNvPr>
          <p:cNvPicPr>
            <a:picLocks noChangeAspect="1"/>
          </p:cNvPicPr>
          <p:nvPr/>
        </p:nvPicPr>
        <p:blipFill>
          <a:blip r:embed="rId3"/>
          <a:stretch>
            <a:fillRect/>
          </a:stretch>
        </p:blipFill>
        <p:spPr>
          <a:xfrm>
            <a:off x="4046086" y="3557101"/>
            <a:ext cx="981134" cy="12103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76332"/>
            <a:ext cx="10607040" cy="5940088"/>
          </a:xfrm>
          <a:prstGeom prst="rect">
            <a:avLst/>
          </a:prstGeom>
          <a:noFill/>
        </p:spPr>
        <p:txBody>
          <a:bodyPr wrap="square" rtlCol="0">
            <a:spAutoFit/>
          </a:bodyPr>
          <a:lstStyle/>
          <a:p>
            <a:r>
              <a:rPr lang="en-US" sz="2000" b="1" dirty="0"/>
              <a:t> Interview Trainer Agent </a:t>
            </a:r>
          </a:p>
          <a:p>
            <a:r>
              <a:rPr lang="en-US" sz="2000" b="1" dirty="0"/>
              <a:t>The Challenge </a:t>
            </a:r>
            <a:r>
              <a:rPr lang="en-US" sz="2000" dirty="0"/>
              <a:t>– An Interview Trainer Agent, powered by RAG (Retrieval-Augmented Generation), prepares users for job interviews by generating tailored question sets and preparation strategies based on their profile name, experience level, and job role.</a:t>
            </a:r>
          </a:p>
          <a:p>
            <a:r>
              <a:rPr lang="en-IN" sz="2000" b="1" dirty="0"/>
              <a:t>The Objective</a:t>
            </a:r>
          </a:p>
          <a:p>
            <a:r>
              <a:rPr lang="en-IN" sz="2000" dirty="0"/>
              <a:t>Build an </a:t>
            </a:r>
            <a:r>
              <a:rPr lang="en-IN" sz="2000" b="1" dirty="0"/>
              <a:t>AI-powered Interview Trainer Agent</a:t>
            </a:r>
            <a:r>
              <a:rPr lang="en-IN" sz="2000" dirty="0"/>
              <a:t> that delivers </a:t>
            </a:r>
            <a:r>
              <a:rPr lang="en-IN" sz="2000" b="1" dirty="0"/>
              <a:t>personalized interview preparation and guidance</a:t>
            </a:r>
            <a:r>
              <a:rPr lang="en-IN" sz="2000" dirty="0"/>
              <a:t> for students and job seekers. The solution should:</a:t>
            </a:r>
          </a:p>
          <a:p>
            <a:r>
              <a:rPr lang="en-IN" sz="2000" dirty="0"/>
              <a:t>• </a:t>
            </a:r>
            <a:r>
              <a:rPr lang="en-IN" sz="2000" b="1" dirty="0"/>
              <a:t>Performance Assessment</a:t>
            </a:r>
            <a:r>
              <a:rPr lang="en-IN" sz="2000" dirty="0"/>
              <a:t> – Evaluate technical knowledge, communication, relevance, completeness, and confidence.</a:t>
            </a:r>
          </a:p>
          <a:p>
            <a:r>
              <a:rPr lang="en-IN" sz="2000" dirty="0"/>
              <a:t>• </a:t>
            </a:r>
            <a:r>
              <a:rPr lang="en-IN" sz="2000" b="1" dirty="0"/>
              <a:t>Resume Analysis</a:t>
            </a:r>
            <a:r>
              <a:rPr lang="en-IN" sz="2000" dirty="0"/>
              <a:t> – </a:t>
            </a:r>
            <a:r>
              <a:rPr lang="en-IN" sz="2000" dirty="0" err="1"/>
              <a:t>Analyze</a:t>
            </a:r>
            <a:r>
              <a:rPr lang="en-IN" sz="2000" dirty="0"/>
              <a:t> the user's resume and identify skills, projects, education, experience, and certifications.</a:t>
            </a:r>
          </a:p>
          <a:p>
            <a:r>
              <a:rPr lang="en-IN" sz="2000" dirty="0"/>
              <a:t>• </a:t>
            </a:r>
            <a:r>
              <a:rPr lang="en-IN" sz="2000" b="1" dirty="0"/>
              <a:t>Multi-Agent System</a:t>
            </a:r>
            <a:r>
              <a:rPr lang="en-IN" sz="2000" dirty="0"/>
              <a:t> –</a:t>
            </a:r>
          </a:p>
          <a:p>
            <a:r>
              <a:rPr lang="en-IN" sz="2000" dirty="0"/>
              <a:t>• </a:t>
            </a:r>
            <a:r>
              <a:rPr lang="en-IN" sz="2000" b="1" dirty="0"/>
              <a:t>Resume Analyzer Agent</a:t>
            </a:r>
            <a:r>
              <a:rPr lang="en-IN" sz="2000" dirty="0"/>
              <a:t> (</a:t>
            </a:r>
            <a:r>
              <a:rPr lang="en-IN" sz="2000" dirty="0" err="1"/>
              <a:t>analyzes</a:t>
            </a:r>
            <a:r>
              <a:rPr lang="en-IN" sz="2000" dirty="0"/>
              <a:t> candidate resume)</a:t>
            </a:r>
          </a:p>
          <a:p>
            <a:r>
              <a:rPr lang="en-IN" sz="2000" dirty="0"/>
              <a:t>• </a:t>
            </a:r>
            <a:r>
              <a:rPr lang="en-IN" sz="2000" b="1" dirty="0"/>
              <a:t>Question Generator Agent</a:t>
            </a:r>
            <a:r>
              <a:rPr lang="en-IN" sz="2000" dirty="0"/>
              <a:t> (generates personalized interview questions)</a:t>
            </a:r>
          </a:p>
          <a:p>
            <a:r>
              <a:rPr lang="en-IN" sz="2000" dirty="0"/>
              <a:t>• </a:t>
            </a:r>
            <a:r>
              <a:rPr lang="en-IN" sz="2000" b="1" dirty="0"/>
              <a:t>Mock Interviewer Agent</a:t>
            </a:r>
            <a:r>
              <a:rPr lang="en-IN" sz="2000" dirty="0"/>
              <a:t> (conducts interactive mock interviews)</a:t>
            </a:r>
          </a:p>
          <a:p>
            <a:r>
              <a:rPr lang="en-IN" sz="2000" dirty="0"/>
              <a:t>• </a:t>
            </a:r>
            <a:r>
              <a:rPr lang="en-IN" sz="2000" b="1" dirty="0"/>
              <a:t>Evaluation Agent</a:t>
            </a:r>
            <a:r>
              <a:rPr lang="en-IN" sz="2000" dirty="0"/>
              <a:t> (evaluates answers and provides feedback)</a:t>
            </a:r>
          </a:p>
          <a:p>
            <a:r>
              <a:rPr lang="en-IN" sz="2000" dirty="0"/>
              <a:t>• </a:t>
            </a:r>
            <a:r>
              <a:rPr lang="en-IN" sz="2000" b="1" dirty="0"/>
              <a:t>Interview Orchestrator Agent</a:t>
            </a:r>
            <a:r>
              <a:rPr lang="en-IN" sz="2000" dirty="0"/>
              <a:t> (coordinates all agents and manages the interview process)</a:t>
            </a:r>
          </a:p>
          <a:p>
            <a:r>
              <a:rPr lang="en-IN" sz="2000" dirty="0"/>
              <a:t>• </a:t>
            </a:r>
            <a:r>
              <a:rPr lang="en-IN" sz="2000" b="1" dirty="0"/>
              <a:t>Progress Dashboard</a:t>
            </a:r>
            <a:r>
              <a:rPr lang="en-IN" sz="2000" dirty="0"/>
              <a:t>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399288"/>
            <a:ext cx="7214616" cy="461665"/>
          </a:xfrm>
          <a:prstGeom prst="rect">
            <a:avLst/>
          </a:prstGeom>
          <a:noFill/>
        </p:spPr>
        <p:txBody>
          <a:bodyPr wrap="square" rtlCol="0">
            <a:spAutoFit/>
          </a:bodyPr>
          <a:lstStyle/>
          <a:p>
            <a:r>
              <a:rPr lang="en-US" sz="2400" b="1" dirty="0"/>
              <a:t>Problem Statement -22</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1" y="970457"/>
            <a:ext cx="11419283" cy="5632311"/>
          </a:xfrm>
          <a:prstGeom prst="rect">
            <a:avLst/>
          </a:prstGeom>
          <a:noFill/>
        </p:spPr>
        <p:txBody>
          <a:bodyPr wrap="square" rtlCol="0">
            <a:spAutoFit/>
          </a:bodyPr>
          <a:lstStyle/>
          <a:p>
            <a:r>
              <a:rPr lang="en-IN" sz="2000" b="1" dirty="0"/>
              <a:t>Proposed Solution: AI-Powered Interview Trainer Agent</a:t>
            </a:r>
          </a:p>
          <a:p>
            <a:r>
              <a:rPr lang="en-IN" sz="2000" dirty="0"/>
              <a:t>The proposed solution is a </a:t>
            </a:r>
            <a:r>
              <a:rPr lang="en-IN" sz="2000" b="1" dirty="0"/>
              <a:t>multi-agent AI-powered Interview Trainer Agent</a:t>
            </a:r>
            <a:r>
              <a:rPr lang="en-IN" sz="2000" dirty="0"/>
              <a:t> built using </a:t>
            </a:r>
            <a:r>
              <a:rPr lang="en-IN" sz="2000" b="1" dirty="0"/>
              <a:t>IBM </a:t>
            </a:r>
            <a:r>
              <a:rPr lang="en-IN" sz="2000" b="1" dirty="0" err="1"/>
              <a:t>watsonx</a:t>
            </a:r>
            <a:r>
              <a:rPr lang="en-IN" sz="2000" b="1" dirty="0"/>
              <a:t> Orchestrate, watsonx.ai, IBM Granite Models, and RAG</a:t>
            </a:r>
            <a:r>
              <a:rPr lang="en-IN" sz="2000" dirty="0"/>
              <a:t> to provide personalized interview preparation and real-time interview guidance.</a:t>
            </a:r>
          </a:p>
          <a:p>
            <a:r>
              <a:rPr lang="en-IN" sz="2000" dirty="0"/>
              <a:t>At its core, the system uses a </a:t>
            </a:r>
            <a:r>
              <a:rPr lang="en-IN" sz="2000" b="1" dirty="0"/>
              <a:t>Retrieval-Augmented Generation (RAG)</a:t>
            </a:r>
            <a:r>
              <a:rPr lang="en-IN" sz="2000" dirty="0"/>
              <a:t> pipeline to retrieve relevant interview questions, role expectations, technical concepts, HR questions, and </a:t>
            </a:r>
            <a:r>
              <a:rPr lang="en-IN" sz="2000" dirty="0" err="1"/>
              <a:t>behavioral</a:t>
            </a:r>
            <a:r>
              <a:rPr lang="en-IN" sz="2000" dirty="0"/>
              <a:t> scenarios from a structured knowledge base.</a:t>
            </a:r>
          </a:p>
          <a:p>
            <a:r>
              <a:rPr lang="en-IN" sz="2000" dirty="0"/>
              <a:t>The system consists of </a:t>
            </a:r>
            <a:r>
              <a:rPr lang="en-IN" sz="2000" b="1" dirty="0"/>
              <a:t>five key agents</a:t>
            </a:r>
            <a:r>
              <a:rPr lang="en-IN" sz="2000" dirty="0"/>
              <a:t>:</a:t>
            </a:r>
          </a:p>
          <a:p>
            <a:r>
              <a:rPr lang="en-IN" sz="2000" b="1" dirty="0"/>
              <a:t>Resume Analyzer Agent</a:t>
            </a:r>
            <a:endParaRPr lang="en-IN" sz="2000" dirty="0"/>
          </a:p>
          <a:p>
            <a:r>
              <a:rPr lang="en-IN" sz="2000" b="1" dirty="0"/>
              <a:t>Question Generator Agent</a:t>
            </a:r>
            <a:r>
              <a:rPr lang="en-IN" sz="2000" dirty="0"/>
              <a:t> </a:t>
            </a:r>
          </a:p>
          <a:p>
            <a:r>
              <a:rPr lang="en-IN" sz="2000" b="1" dirty="0"/>
              <a:t>Mock Interviewer Agent</a:t>
            </a:r>
            <a:endParaRPr lang="en-IN" sz="2000" dirty="0"/>
          </a:p>
          <a:p>
            <a:r>
              <a:rPr lang="en-IN" sz="2000" b="1" dirty="0"/>
              <a:t>Evaluation Agent</a:t>
            </a:r>
            <a:r>
              <a:rPr lang="en-IN" sz="2000" dirty="0"/>
              <a:t> </a:t>
            </a:r>
          </a:p>
          <a:p>
            <a:r>
              <a:rPr lang="en-IN" sz="2000" b="1" dirty="0"/>
              <a:t>Interview Orchestrator Agent</a:t>
            </a:r>
            <a:r>
              <a:rPr lang="en-IN" sz="2000" dirty="0"/>
              <a:t> </a:t>
            </a:r>
          </a:p>
          <a:p>
            <a:r>
              <a:rPr lang="en-IN" sz="2000" b="1" dirty="0"/>
              <a:t>IBM </a:t>
            </a:r>
            <a:r>
              <a:rPr lang="en-IN" sz="2000" b="1" dirty="0" err="1"/>
              <a:t>watsonx</a:t>
            </a:r>
            <a:r>
              <a:rPr lang="en-IN" sz="2000" b="1" dirty="0"/>
              <a:t> Orchestrate</a:t>
            </a:r>
            <a:r>
              <a:rPr lang="en-IN" sz="2000" dirty="0"/>
              <a:t> is used to coordinate the multi-agent workflow, while </a:t>
            </a:r>
            <a:r>
              <a:rPr lang="en-IN" sz="2000" b="1" dirty="0"/>
              <a:t>watsonx.ai and IBM Granite models</a:t>
            </a:r>
            <a:r>
              <a:rPr lang="en-IN" sz="2000" dirty="0"/>
              <a:t> provide AI capabilities. </a:t>
            </a:r>
          </a:p>
          <a:p>
            <a:r>
              <a:rPr lang="en-IN" sz="2000" dirty="0"/>
              <a:t>Overall, the solution delivers an </a:t>
            </a:r>
            <a:r>
              <a:rPr lang="en-IN" sz="2000" b="1" dirty="0"/>
              <a:t>end-to-end intelligent interview preparation platform</a:t>
            </a:r>
            <a:r>
              <a:rPr lang="en-IN" sz="2000" dirty="0"/>
              <a:t> that helps students and job seekers practice interviews, identify skill gaps, improve communication, and prepare effectively for their target roles.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9120"/>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70762" y="253799"/>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715464"/>
            <a:ext cx="10932980" cy="6036974"/>
          </a:xfrm>
          <a:prstGeom prst="rect">
            <a:avLst/>
          </a:prstGeom>
          <a:noFill/>
        </p:spPr>
        <p:txBody>
          <a:bodyPr wrap="square" rtlCol="0">
            <a:spAutoFit/>
          </a:bodyPr>
          <a:lstStyle/>
          <a:p>
            <a:pPr>
              <a:lnSpc>
                <a:spcPct val="150000"/>
              </a:lnSpc>
            </a:pPr>
            <a:r>
              <a:rPr lang="en-IN" sz="2000" dirty="0"/>
              <a:t>• </a:t>
            </a:r>
            <a:r>
              <a:rPr lang="en-IN" sz="2000" b="1" dirty="0"/>
              <a:t>IBM </a:t>
            </a:r>
            <a:r>
              <a:rPr lang="en-IN" sz="2000" b="1" dirty="0" err="1"/>
              <a:t>watsonx</a:t>
            </a:r>
            <a:r>
              <a:rPr lang="en-IN" sz="2000" b="1" dirty="0"/>
              <a:t> Orchestrate</a:t>
            </a:r>
            <a:endParaRPr lang="en-IN" sz="2000" dirty="0"/>
          </a:p>
          <a:p>
            <a:pPr>
              <a:lnSpc>
                <a:spcPct val="150000"/>
              </a:lnSpc>
            </a:pPr>
            <a:r>
              <a:rPr lang="en-IN" sz="2000" dirty="0"/>
              <a:t>• </a:t>
            </a:r>
            <a:r>
              <a:rPr lang="en-IN" sz="2000" b="1" dirty="0"/>
              <a:t>IBM Granite Model</a:t>
            </a:r>
          </a:p>
          <a:p>
            <a:pPr marL="285750" indent="-285750">
              <a:lnSpc>
                <a:spcPct val="150000"/>
              </a:lnSpc>
              <a:buFont typeface="Arial" panose="020B0604020202020204" pitchFamily="34" charset="0"/>
              <a:buChar char="•"/>
            </a:pPr>
            <a:r>
              <a:rPr lang="en-IN" sz="2000" b="1" dirty="0"/>
              <a:t>Html</a:t>
            </a:r>
          </a:p>
          <a:p>
            <a:pPr marL="285750" indent="-285750">
              <a:lnSpc>
                <a:spcPct val="150000"/>
              </a:lnSpc>
              <a:buFont typeface="Arial" panose="020B0604020202020204" pitchFamily="34" charset="0"/>
              <a:buChar char="•"/>
            </a:pPr>
            <a:r>
              <a:rPr lang="en-IN" sz="2000" b="1" dirty="0" err="1"/>
              <a:t>Css</a:t>
            </a:r>
            <a:endParaRPr lang="en-IN" sz="2000" b="1" dirty="0"/>
          </a:p>
          <a:p>
            <a:pPr marL="285750" indent="-285750">
              <a:lnSpc>
                <a:spcPct val="150000"/>
              </a:lnSpc>
              <a:buFont typeface="Arial" panose="020B0604020202020204" pitchFamily="34" charset="0"/>
              <a:buChar char="•"/>
            </a:pPr>
            <a:r>
              <a:rPr lang="en-IN" sz="2000" b="1" dirty="0" err="1"/>
              <a:t>Javascript</a:t>
            </a:r>
            <a:r>
              <a:rPr lang="en-IN" sz="2000" b="1" dirty="0"/>
              <a:t> </a:t>
            </a:r>
            <a:endParaRPr lang="en-IN" sz="2000" dirty="0"/>
          </a:p>
          <a:p>
            <a:pPr>
              <a:lnSpc>
                <a:spcPct val="150000"/>
              </a:lnSpc>
            </a:pPr>
            <a:r>
              <a:rPr lang="en-IN" sz="2000" dirty="0"/>
              <a:t>• </a:t>
            </a:r>
            <a:r>
              <a:rPr lang="en-IN" sz="2000" b="1" dirty="0"/>
              <a:t>IBM Cloud</a:t>
            </a:r>
            <a:r>
              <a:rPr lang="en-IN" sz="2000" dirty="0"/>
              <a:t> </a:t>
            </a:r>
          </a:p>
          <a:p>
            <a:pPr>
              <a:lnSpc>
                <a:spcPct val="150000"/>
              </a:lnSpc>
            </a:pPr>
            <a:r>
              <a:rPr lang="en-IN" sz="2000" dirty="0"/>
              <a:t>• </a:t>
            </a:r>
            <a:r>
              <a:rPr lang="en-IN" sz="2000" b="1" dirty="0"/>
              <a:t>RAG</a:t>
            </a:r>
            <a:r>
              <a:rPr lang="en-IN" sz="2000" dirty="0"/>
              <a:t> </a:t>
            </a:r>
          </a:p>
          <a:p>
            <a:pPr>
              <a:lnSpc>
                <a:spcPct val="150000"/>
              </a:lnSpc>
            </a:pPr>
            <a:r>
              <a:rPr lang="en-IN" sz="2000" dirty="0"/>
              <a:t>• </a:t>
            </a:r>
            <a:r>
              <a:rPr lang="en-IN" sz="2000" b="1" dirty="0"/>
              <a:t>IBM watsonx.ai</a:t>
            </a:r>
            <a:endParaRPr lang="en-IN" sz="2000" dirty="0"/>
          </a:p>
          <a:p>
            <a:pPr>
              <a:lnSpc>
                <a:spcPct val="150000"/>
              </a:lnSpc>
            </a:pPr>
            <a:r>
              <a:rPr lang="en-IN" sz="2000" dirty="0"/>
              <a:t>• </a:t>
            </a:r>
            <a:r>
              <a:rPr lang="en-IN" sz="2000" b="1" dirty="0"/>
              <a:t>Knowledge Base</a:t>
            </a:r>
            <a:r>
              <a:rPr lang="en-IN" sz="2000" dirty="0"/>
              <a:t> </a:t>
            </a:r>
          </a:p>
          <a:p>
            <a:pPr>
              <a:lnSpc>
                <a:spcPct val="150000"/>
              </a:lnSpc>
            </a:pPr>
            <a:r>
              <a:rPr lang="en-IN" sz="2000" dirty="0"/>
              <a:t>• </a:t>
            </a:r>
            <a:r>
              <a:rPr lang="en-IN" sz="2000" b="1" dirty="0"/>
              <a:t>A2A (Agent-to-Agent)</a:t>
            </a:r>
            <a:endParaRPr lang="en-IN" sz="2000" dirty="0"/>
          </a:p>
          <a:p>
            <a:pPr>
              <a:lnSpc>
                <a:spcPct val="150000"/>
              </a:lnSpc>
            </a:pPr>
            <a:r>
              <a:rPr lang="en-IN" sz="2000" dirty="0"/>
              <a:t>• </a:t>
            </a:r>
            <a:r>
              <a:rPr lang="en-IN" sz="2000" b="1" dirty="0"/>
              <a:t>React.js</a:t>
            </a:r>
            <a:endParaRPr lang="en-IN" sz="2000" dirty="0"/>
          </a:p>
          <a:p>
            <a:pPr>
              <a:lnSpc>
                <a:spcPct val="150000"/>
              </a:lnSpc>
            </a:pPr>
            <a:r>
              <a:rPr lang="en-IN" sz="2000" dirty="0"/>
              <a:t>• </a:t>
            </a:r>
            <a:r>
              <a:rPr lang="en-IN" sz="2000" b="1" dirty="0" err="1"/>
              <a:t>FastAPI</a:t>
            </a:r>
            <a:endParaRPr lang="en-IN" sz="2000" dirty="0"/>
          </a:p>
          <a:p>
            <a:pPr>
              <a:lnSpc>
                <a:spcPct val="150000"/>
              </a:lnSpc>
            </a:pPr>
            <a:r>
              <a:rPr lang="en-IN" sz="2000" dirty="0"/>
              <a:t>• </a:t>
            </a:r>
            <a:r>
              <a:rPr lang="en-IN" sz="2000" b="1" dirty="0" err="1"/>
              <a:t>Supabase</a:t>
            </a:r>
            <a:r>
              <a:rPr lang="en-IN" sz="2000" b="1" dirty="0"/>
              <a:t> &amp; PostgreSQL</a:t>
            </a:r>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E16C97-A4FD-F384-F396-E8AEAC3DF41E}"/>
              </a:ext>
            </a:extLst>
          </p:cNvPr>
          <p:cNvPicPr>
            <a:picLocks noChangeAspect="1"/>
          </p:cNvPicPr>
          <p:nvPr/>
        </p:nvPicPr>
        <p:blipFill>
          <a:blip r:embed="rId2"/>
          <a:stretch>
            <a:fillRect/>
          </a:stretch>
        </p:blipFill>
        <p:spPr>
          <a:xfrm>
            <a:off x="602225" y="832344"/>
            <a:ext cx="10987549" cy="5785046"/>
          </a:xfrm>
          <a:prstGeom prst="rect">
            <a:avLst/>
          </a:prstGeom>
        </p:spPr>
      </p:pic>
      <p:sp>
        <p:nvSpPr>
          <p:cNvPr id="5" name="TextBox 4">
            <a:extLst>
              <a:ext uri="{FF2B5EF4-FFF2-40B4-BE49-F238E27FC236}">
                <a16:creationId xmlns:a16="http://schemas.microsoft.com/office/drawing/2014/main" id="{57C40158-EA0A-D456-B117-C7205084D13C}"/>
              </a:ext>
            </a:extLst>
          </p:cNvPr>
          <p:cNvSpPr txBox="1"/>
          <p:nvPr/>
        </p:nvSpPr>
        <p:spPr>
          <a:xfrm>
            <a:off x="157316" y="240610"/>
            <a:ext cx="6096000" cy="461665"/>
          </a:xfrm>
          <a:prstGeom prst="rect">
            <a:avLst/>
          </a:prstGeom>
          <a:noFill/>
        </p:spPr>
        <p:txBody>
          <a:bodyPr wrap="square">
            <a:spAutoFit/>
          </a:bodyPr>
          <a:lstStyle/>
          <a:p>
            <a:r>
              <a:rPr lang="en-US" sz="2400" b="1" dirty="0">
                <a:sym typeface="Times New Roman"/>
              </a:rPr>
              <a:t>Required Files created using IBM bob :</a:t>
            </a:r>
            <a:endParaRPr lang="en-IN" sz="1400" dirty="0"/>
          </a:p>
        </p:txBody>
      </p:sp>
    </p:spTree>
    <p:extLst>
      <p:ext uri="{BB962C8B-B14F-4D97-AF65-F5344CB8AC3E}">
        <p14:creationId xmlns:p14="http://schemas.microsoft.com/office/powerpoint/2010/main" val="3560316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8A21A6-9A32-E1FE-BCB4-34DA25A09571}"/>
              </a:ext>
            </a:extLst>
          </p:cNvPr>
          <p:cNvSpPr txBox="1"/>
          <p:nvPr/>
        </p:nvSpPr>
        <p:spPr>
          <a:xfrm>
            <a:off x="580103" y="423012"/>
            <a:ext cx="6096000" cy="461665"/>
          </a:xfrm>
          <a:prstGeom prst="rect">
            <a:avLst/>
          </a:prstGeom>
          <a:noFill/>
        </p:spPr>
        <p:txBody>
          <a:bodyPr wrap="square">
            <a:spAutoFit/>
          </a:bodyPr>
          <a:lstStyle/>
          <a:p>
            <a:r>
              <a:rPr lang="en-US" sz="2400" b="1" dirty="0">
                <a:sym typeface="Times New Roman"/>
              </a:rPr>
              <a:t>Required Files created using IBM bob :</a:t>
            </a:r>
            <a:endParaRPr lang="en-IN" dirty="0"/>
          </a:p>
        </p:txBody>
      </p:sp>
      <p:pic>
        <p:nvPicPr>
          <p:cNvPr id="7" name="Picture 6">
            <a:extLst>
              <a:ext uri="{FF2B5EF4-FFF2-40B4-BE49-F238E27FC236}">
                <a16:creationId xmlns:a16="http://schemas.microsoft.com/office/drawing/2014/main" id="{D0DB327A-1D5D-5A3C-FE29-C765F769901B}"/>
              </a:ext>
            </a:extLst>
          </p:cNvPr>
          <p:cNvPicPr>
            <a:picLocks noChangeAspect="1"/>
          </p:cNvPicPr>
          <p:nvPr/>
        </p:nvPicPr>
        <p:blipFill>
          <a:blip r:embed="rId2"/>
          <a:stretch>
            <a:fillRect/>
          </a:stretch>
        </p:blipFill>
        <p:spPr>
          <a:xfrm>
            <a:off x="840658" y="988221"/>
            <a:ext cx="11026877" cy="5734896"/>
          </a:xfrm>
          <a:prstGeom prst="rect">
            <a:avLst/>
          </a:prstGeom>
        </p:spPr>
      </p:pic>
    </p:spTree>
    <p:extLst>
      <p:ext uri="{BB962C8B-B14F-4D97-AF65-F5344CB8AC3E}">
        <p14:creationId xmlns:p14="http://schemas.microsoft.com/office/powerpoint/2010/main" val="185630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98B4F9-0D42-EA6D-B2D6-DC376B5E0798}"/>
              </a:ext>
            </a:extLst>
          </p:cNvPr>
          <p:cNvPicPr>
            <a:picLocks noChangeAspect="1"/>
          </p:cNvPicPr>
          <p:nvPr/>
        </p:nvPicPr>
        <p:blipFill>
          <a:blip r:embed="rId2"/>
          <a:stretch>
            <a:fillRect/>
          </a:stretch>
        </p:blipFill>
        <p:spPr>
          <a:xfrm>
            <a:off x="747250" y="508634"/>
            <a:ext cx="11085825" cy="5840732"/>
          </a:xfrm>
          <a:prstGeom prst="rect">
            <a:avLst/>
          </a:prstGeom>
        </p:spPr>
      </p:pic>
    </p:spTree>
    <p:extLst>
      <p:ext uri="{BB962C8B-B14F-4D97-AF65-F5344CB8AC3E}">
        <p14:creationId xmlns:p14="http://schemas.microsoft.com/office/powerpoint/2010/main" val="375235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8" name="Picture 7">
            <a:extLst>
              <a:ext uri="{FF2B5EF4-FFF2-40B4-BE49-F238E27FC236}">
                <a16:creationId xmlns:a16="http://schemas.microsoft.com/office/drawing/2014/main" id="{862D6E5A-D9CD-0219-475B-A554238AC2A5}"/>
              </a:ext>
            </a:extLst>
          </p:cNvPr>
          <p:cNvPicPr>
            <a:picLocks noChangeAspect="1"/>
          </p:cNvPicPr>
          <p:nvPr/>
        </p:nvPicPr>
        <p:blipFill>
          <a:blip r:embed="rId3"/>
          <a:stretch>
            <a:fillRect/>
          </a:stretch>
        </p:blipFill>
        <p:spPr>
          <a:xfrm>
            <a:off x="537590" y="812233"/>
            <a:ext cx="11172629" cy="57225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9" name="Picture 8">
            <a:extLst>
              <a:ext uri="{FF2B5EF4-FFF2-40B4-BE49-F238E27FC236}">
                <a16:creationId xmlns:a16="http://schemas.microsoft.com/office/drawing/2014/main" id="{9A663FF9-4134-24EE-D990-5F8878A5174B}"/>
              </a:ext>
            </a:extLst>
          </p:cNvPr>
          <p:cNvPicPr>
            <a:picLocks noChangeAspect="1"/>
          </p:cNvPicPr>
          <p:nvPr/>
        </p:nvPicPr>
        <p:blipFill>
          <a:blip r:embed="rId3"/>
          <a:stretch>
            <a:fillRect/>
          </a:stretch>
        </p:blipFill>
        <p:spPr>
          <a:xfrm>
            <a:off x="3799840" y="557325"/>
            <a:ext cx="4927599" cy="581718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961920" y="1354306"/>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8089590" cy="5324535"/>
          </a:xfrm>
          <a:prstGeom prst="rect">
            <a:avLst/>
          </a:prstGeom>
          <a:noFill/>
        </p:spPr>
        <p:txBody>
          <a:bodyPr wrap="square" rtlCol="0">
            <a:spAutoFit/>
          </a:bodyPr>
          <a:lstStyle/>
          <a:p>
            <a:pPr marL="285750" indent="-285750" algn="just">
              <a:buFont typeface="Arial" panose="020B0604020202020204" pitchFamily="34" charset="0"/>
              <a:buChar char="•"/>
            </a:pPr>
            <a:r>
              <a:rPr lang="en-IN" sz="2000" b="1" dirty="0"/>
              <a:t>Agentic AI</a:t>
            </a:r>
            <a:r>
              <a:rPr lang="en-IN" sz="2000" dirty="0"/>
              <a:t> enables </a:t>
            </a:r>
            <a:r>
              <a:rPr lang="en-IN" sz="2000" b="1" dirty="0" err="1"/>
              <a:t>InterviewMate</a:t>
            </a:r>
            <a:r>
              <a:rPr lang="en-IN" sz="2000" b="1" dirty="0"/>
              <a:t> AI</a:t>
            </a:r>
            <a:r>
              <a:rPr lang="en-IN" sz="2000" dirty="0"/>
              <a:t> to function as an intelligent, autonomous interview-training system rather than a simple chatbot. Each agent performs a specific role—such as </a:t>
            </a:r>
            <a:r>
              <a:rPr lang="en-IN" sz="2000" b="1" dirty="0" err="1"/>
              <a:t>analyzing</a:t>
            </a:r>
            <a:r>
              <a:rPr lang="en-IN" sz="2000" b="1" dirty="0"/>
              <a:t> resumes, generating interview questions, conducting mock interviews, and evaluating candidate answers</a:t>
            </a:r>
          </a:p>
          <a:p>
            <a:pPr marL="285750" indent="-285750" algn="just">
              <a:buFont typeface="Arial" panose="020B0604020202020204" pitchFamily="34" charset="0"/>
              <a:buChar char="•"/>
            </a:pPr>
            <a:r>
              <a:rPr lang="en-IN" sz="2000" dirty="0"/>
              <a:t>Agentic AI also provides </a:t>
            </a:r>
            <a:r>
              <a:rPr lang="en-IN" sz="2000" b="1" dirty="0"/>
              <a:t>context awareness</a:t>
            </a:r>
            <a:r>
              <a:rPr lang="en-IN" sz="2000" dirty="0"/>
              <a:t>, understanding user details such as </a:t>
            </a:r>
            <a:r>
              <a:rPr lang="en-IN" sz="2000" b="1" dirty="0"/>
              <a:t>skills, education, projects, experience, selected job role, and interview preferences</a:t>
            </a:r>
            <a:r>
              <a:rPr lang="en-IN" sz="2000" dirty="0"/>
              <a:t> to generate relevant questions and feedback.</a:t>
            </a:r>
          </a:p>
          <a:p>
            <a:pPr marL="285750" indent="-285750" algn="just">
              <a:buFont typeface="Arial" panose="020B0604020202020204" pitchFamily="34" charset="0"/>
              <a:buChar char="•"/>
            </a:pPr>
            <a:r>
              <a:rPr lang="en-IN" sz="2000" dirty="0"/>
              <a:t>It supports </a:t>
            </a:r>
            <a:r>
              <a:rPr lang="en-IN" sz="2000" b="1" dirty="0"/>
              <a:t>real-time adaptation</a:t>
            </a:r>
            <a:r>
              <a:rPr lang="en-IN" sz="2000" dirty="0"/>
              <a:t> during mock interviews. The </a:t>
            </a:r>
            <a:r>
              <a:rPr lang="en-IN" sz="2000" b="1" dirty="0"/>
              <a:t>Mock Interviewer Agent</a:t>
            </a:r>
            <a:r>
              <a:rPr lang="en-IN" sz="2000" dirty="0"/>
              <a:t> asks questions one at a time and can generate follow-up questions based on the candidate's responses, making the interview more interactive and realistic.</a:t>
            </a:r>
          </a:p>
          <a:p>
            <a:pPr algn="just"/>
            <a:r>
              <a:rPr lang="en-IN" sz="2000" dirty="0"/>
              <a:t>Overall, Agentic AI makes </a:t>
            </a:r>
            <a:r>
              <a:rPr lang="en-IN" sz="2000" b="1" dirty="0" err="1"/>
              <a:t>InterviewMate</a:t>
            </a:r>
            <a:r>
              <a:rPr lang="en-IN" sz="2000" b="1" dirty="0"/>
              <a:t> AI proactive, personalized, adaptive, and goal-driven</a:t>
            </a:r>
            <a:r>
              <a:rPr lang="en-IN" sz="2000" dirty="0"/>
              <a:t>, acting like a </a:t>
            </a:r>
            <a:r>
              <a:rPr lang="en-IN" sz="2000" b="1" dirty="0"/>
              <a:t>smart virtual interview coach</a:t>
            </a:r>
            <a:r>
              <a:rPr lang="en-IN" sz="2000" dirty="0"/>
              <a:t> that helps candidates improve their technical knowledge, communication skills, and interview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203515"/>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793192" y="836870"/>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50 bob coins are used</a:t>
            </a:r>
          </a:p>
        </p:txBody>
      </p:sp>
      <p:sp>
        <p:nvSpPr>
          <p:cNvPr id="15" name="TextBox 14">
            <a:extLst>
              <a:ext uri="{FF2B5EF4-FFF2-40B4-BE49-F238E27FC236}">
                <a16:creationId xmlns:a16="http://schemas.microsoft.com/office/drawing/2014/main" id="{B22EA981-5113-2D05-C1A2-169306E1D47C}"/>
              </a:ext>
            </a:extLst>
          </p:cNvPr>
          <p:cNvSpPr txBox="1"/>
          <p:nvPr/>
        </p:nvSpPr>
        <p:spPr>
          <a:xfrm>
            <a:off x="927872" y="1176732"/>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all Prompts</a:t>
            </a:r>
          </a:p>
        </p:txBody>
      </p:sp>
      <p:pic>
        <p:nvPicPr>
          <p:cNvPr id="3" name="Picture 2">
            <a:extLst>
              <a:ext uri="{FF2B5EF4-FFF2-40B4-BE49-F238E27FC236}">
                <a16:creationId xmlns:a16="http://schemas.microsoft.com/office/drawing/2014/main" id="{A603339A-59A7-DE7E-D576-1153685861A1}"/>
              </a:ext>
            </a:extLst>
          </p:cNvPr>
          <p:cNvPicPr>
            <a:picLocks noChangeAspect="1"/>
          </p:cNvPicPr>
          <p:nvPr/>
        </p:nvPicPr>
        <p:blipFill>
          <a:blip r:embed="rId3"/>
          <a:stretch>
            <a:fillRect/>
          </a:stretch>
        </p:blipFill>
        <p:spPr>
          <a:xfrm>
            <a:off x="1218724" y="1778002"/>
            <a:ext cx="9886156" cy="4759618"/>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49B89F-FED5-AD18-0DBC-F5A549BB7800}"/>
              </a:ext>
            </a:extLst>
          </p:cNvPr>
          <p:cNvSpPr txBox="1"/>
          <p:nvPr/>
        </p:nvSpPr>
        <p:spPr>
          <a:xfrm>
            <a:off x="264160" y="0"/>
            <a:ext cx="3027680" cy="492443"/>
          </a:xfrm>
          <a:prstGeom prst="rect">
            <a:avLst/>
          </a:prstGeom>
          <a:noFill/>
        </p:spPr>
        <p:txBody>
          <a:bodyPr wrap="square" rtlCol="0">
            <a:spAutoFit/>
          </a:bodyPr>
          <a:lstStyle/>
          <a:p>
            <a:r>
              <a:rPr lang="en-US" sz="2600" b="1" dirty="0" err="1"/>
              <a:t>ScreenShots</a:t>
            </a:r>
            <a:r>
              <a:rPr lang="en-US" sz="2600" b="1" dirty="0"/>
              <a:t>:</a:t>
            </a:r>
            <a:endParaRPr lang="en-IN" sz="2600" b="1" dirty="0"/>
          </a:p>
        </p:txBody>
      </p:sp>
      <p:pic>
        <p:nvPicPr>
          <p:cNvPr id="14" name="Picture 13">
            <a:extLst>
              <a:ext uri="{FF2B5EF4-FFF2-40B4-BE49-F238E27FC236}">
                <a16:creationId xmlns:a16="http://schemas.microsoft.com/office/drawing/2014/main" id="{CE6E74D0-E08A-691E-6C58-E275D2694FFE}"/>
              </a:ext>
            </a:extLst>
          </p:cNvPr>
          <p:cNvPicPr>
            <a:picLocks noChangeAspect="1"/>
          </p:cNvPicPr>
          <p:nvPr/>
        </p:nvPicPr>
        <p:blipFill>
          <a:blip r:embed="rId2"/>
          <a:stretch>
            <a:fillRect/>
          </a:stretch>
        </p:blipFill>
        <p:spPr>
          <a:xfrm>
            <a:off x="1081548" y="827926"/>
            <a:ext cx="10249249" cy="5202148"/>
          </a:xfrm>
          <a:prstGeom prst="rect">
            <a:avLst/>
          </a:prstGeom>
        </p:spPr>
      </p:pic>
    </p:spTree>
    <p:extLst>
      <p:ext uri="{BB962C8B-B14F-4D97-AF65-F5344CB8AC3E}">
        <p14:creationId xmlns:p14="http://schemas.microsoft.com/office/powerpoint/2010/main" val="280971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1F4E16F-CF2B-DB68-3942-1BDC4C6A50F0}"/>
              </a:ext>
            </a:extLst>
          </p:cNvPr>
          <p:cNvPicPr>
            <a:picLocks noChangeAspect="1"/>
          </p:cNvPicPr>
          <p:nvPr/>
        </p:nvPicPr>
        <p:blipFill>
          <a:blip r:embed="rId2"/>
          <a:stretch>
            <a:fillRect/>
          </a:stretch>
        </p:blipFill>
        <p:spPr>
          <a:xfrm>
            <a:off x="893924" y="882754"/>
            <a:ext cx="10404151" cy="5444155"/>
          </a:xfrm>
          <a:prstGeom prst="rect">
            <a:avLst/>
          </a:prstGeom>
        </p:spPr>
      </p:pic>
      <p:sp>
        <p:nvSpPr>
          <p:cNvPr id="2" name="TextBox 1">
            <a:extLst>
              <a:ext uri="{FF2B5EF4-FFF2-40B4-BE49-F238E27FC236}">
                <a16:creationId xmlns:a16="http://schemas.microsoft.com/office/drawing/2014/main" id="{F641054A-A22D-4DE1-B1A0-C68F54F20552}"/>
              </a:ext>
            </a:extLst>
          </p:cNvPr>
          <p:cNvSpPr txBox="1"/>
          <p:nvPr/>
        </p:nvSpPr>
        <p:spPr>
          <a:xfrm>
            <a:off x="378541" y="311805"/>
            <a:ext cx="5442156" cy="400110"/>
          </a:xfrm>
          <a:prstGeom prst="rect">
            <a:avLst/>
          </a:prstGeom>
          <a:noFill/>
        </p:spPr>
        <p:txBody>
          <a:bodyPr wrap="square" rtlCol="0">
            <a:spAutoFit/>
          </a:bodyPr>
          <a:lstStyle/>
          <a:p>
            <a:r>
              <a:rPr lang="en-IN" sz="2000" dirty="0"/>
              <a:t>Website Screenshots:</a:t>
            </a:r>
          </a:p>
        </p:txBody>
      </p:sp>
    </p:spTree>
    <p:extLst>
      <p:ext uri="{BB962C8B-B14F-4D97-AF65-F5344CB8AC3E}">
        <p14:creationId xmlns:p14="http://schemas.microsoft.com/office/powerpoint/2010/main" val="3632693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DE8BDD-4D5A-6CBC-F8A9-D76FA68479EB}"/>
              </a:ext>
            </a:extLst>
          </p:cNvPr>
          <p:cNvPicPr>
            <a:picLocks noChangeAspect="1"/>
          </p:cNvPicPr>
          <p:nvPr/>
        </p:nvPicPr>
        <p:blipFill>
          <a:blip r:embed="rId2"/>
          <a:stretch>
            <a:fillRect/>
          </a:stretch>
        </p:blipFill>
        <p:spPr>
          <a:xfrm>
            <a:off x="413849" y="589935"/>
            <a:ext cx="11581506" cy="5556936"/>
          </a:xfrm>
          <a:prstGeom prst="rect">
            <a:avLst/>
          </a:prstGeom>
        </p:spPr>
      </p:pic>
    </p:spTree>
    <p:extLst>
      <p:ext uri="{BB962C8B-B14F-4D97-AF65-F5344CB8AC3E}">
        <p14:creationId xmlns:p14="http://schemas.microsoft.com/office/powerpoint/2010/main" val="4222413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3DF43E-828D-F238-763C-A352A0D73E08}"/>
              </a:ext>
            </a:extLst>
          </p:cNvPr>
          <p:cNvPicPr>
            <a:picLocks noChangeAspect="1"/>
          </p:cNvPicPr>
          <p:nvPr/>
        </p:nvPicPr>
        <p:blipFill>
          <a:blip r:embed="rId2"/>
          <a:stretch>
            <a:fillRect/>
          </a:stretch>
        </p:blipFill>
        <p:spPr>
          <a:xfrm>
            <a:off x="363794" y="498271"/>
            <a:ext cx="11680528" cy="5673928"/>
          </a:xfrm>
          <a:prstGeom prst="rect">
            <a:avLst/>
          </a:prstGeom>
        </p:spPr>
      </p:pic>
    </p:spTree>
    <p:extLst>
      <p:ext uri="{BB962C8B-B14F-4D97-AF65-F5344CB8AC3E}">
        <p14:creationId xmlns:p14="http://schemas.microsoft.com/office/powerpoint/2010/main" val="788117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8B32B6-0CBF-E6D9-2395-A50F79FAD51F}"/>
              </a:ext>
            </a:extLst>
          </p:cNvPr>
          <p:cNvPicPr>
            <a:picLocks noChangeAspect="1"/>
          </p:cNvPicPr>
          <p:nvPr/>
        </p:nvPicPr>
        <p:blipFill>
          <a:blip r:embed="rId2"/>
          <a:stretch>
            <a:fillRect/>
          </a:stretch>
        </p:blipFill>
        <p:spPr>
          <a:xfrm>
            <a:off x="403122" y="495244"/>
            <a:ext cx="11576862" cy="5590924"/>
          </a:xfrm>
          <a:prstGeom prst="rect">
            <a:avLst/>
          </a:prstGeom>
        </p:spPr>
      </p:pic>
    </p:spTree>
    <p:extLst>
      <p:ext uri="{BB962C8B-B14F-4D97-AF65-F5344CB8AC3E}">
        <p14:creationId xmlns:p14="http://schemas.microsoft.com/office/powerpoint/2010/main" val="364470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49420" y="219161"/>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68415" y="830104"/>
            <a:ext cx="11823585" cy="5632311"/>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t>The proposed </a:t>
            </a:r>
            <a:r>
              <a:rPr lang="en-IN" sz="2000" b="1" dirty="0" err="1"/>
              <a:t>InterviewMate</a:t>
            </a:r>
            <a:r>
              <a:rPr lang="en-IN" sz="2000" b="1" dirty="0"/>
              <a:t> AI</a:t>
            </a:r>
            <a:r>
              <a:rPr lang="en-IN" sz="2000" dirty="0"/>
              <a:t> stands out by combining </a:t>
            </a:r>
            <a:r>
              <a:rPr lang="en-IN" sz="2000" b="1" dirty="0"/>
              <a:t>Agentic AI, RAG, personalization, and adaptive mock interviews</a:t>
            </a:r>
            <a:r>
              <a:rPr lang="en-IN" sz="2000" dirty="0"/>
              <a:t> into a single intelligent interview-training system.</a:t>
            </a:r>
          </a:p>
          <a:p>
            <a:pPr marL="285750" indent="-285750" algn="just">
              <a:buFont typeface="Arial" panose="020B0604020202020204" pitchFamily="34" charset="0"/>
              <a:buChar char="•"/>
            </a:pPr>
            <a:r>
              <a:rPr lang="en-IN" sz="2000" b="1" dirty="0"/>
              <a:t>Multi-Agent Intelligence</a:t>
            </a:r>
            <a:r>
              <a:rPr lang="en-IN" sz="2000" dirty="0"/>
              <a:t> –The </a:t>
            </a:r>
            <a:r>
              <a:rPr lang="en-IN" sz="2000" b="1" dirty="0"/>
              <a:t>Resume Analyzer, Question Generator, Mock Interviewer, and Evaluation Agent</a:t>
            </a:r>
            <a:r>
              <a:rPr lang="en-IN" sz="2000" dirty="0"/>
              <a:t> work together through the Orchestrator to provide an end-to-end interview experience.</a:t>
            </a:r>
          </a:p>
          <a:p>
            <a:pPr marL="285750" indent="-285750" algn="just">
              <a:buFont typeface="Arial" panose="020B0604020202020204" pitchFamily="34" charset="0"/>
              <a:buChar char="•"/>
            </a:pPr>
            <a:r>
              <a:rPr lang="en-IN" sz="2000" b="1" dirty="0"/>
              <a:t>RAG-Based Question Generation</a:t>
            </a:r>
            <a:r>
              <a:rPr lang="en-IN" sz="2000" dirty="0"/>
              <a:t> – Integrates a dedicated interview knowledge base containing </a:t>
            </a:r>
            <a:r>
              <a:rPr lang="en-IN" sz="2000" b="1" dirty="0"/>
              <a:t>Python, ML/AI, SQL, DSA, HR, </a:t>
            </a:r>
            <a:r>
              <a:rPr lang="en-IN" sz="2000" b="1" dirty="0" err="1"/>
              <a:t>behavioral</a:t>
            </a:r>
            <a:r>
              <a:rPr lang="en-IN" sz="2000" b="1" dirty="0"/>
              <a:t>, and role-expectation content</a:t>
            </a:r>
            <a:r>
              <a:rPr lang="en-IN" sz="2000" dirty="0"/>
              <a:t> to generate relevant and context-aware questions.</a:t>
            </a:r>
          </a:p>
          <a:p>
            <a:pPr marL="285750" indent="-285750" algn="just">
              <a:buFont typeface="Arial" panose="020B0604020202020204" pitchFamily="34" charset="0"/>
              <a:buChar char="•"/>
            </a:pPr>
            <a:r>
              <a:rPr lang="en-IN" sz="2000" b="1" dirty="0"/>
              <a:t>Resume-Based Personalization</a:t>
            </a:r>
            <a:r>
              <a:rPr lang="en-IN" sz="2000" dirty="0"/>
              <a:t> – Questions are tailored to the candidate's </a:t>
            </a:r>
            <a:r>
              <a:rPr lang="en-IN" sz="2000" b="1" dirty="0"/>
              <a:t>skills, education, projects, certifications, experience, and selected job role</a:t>
            </a:r>
            <a:r>
              <a:rPr lang="en-IN" sz="2000" dirty="0"/>
              <a:t>, rather than providing the same questions to every user.</a:t>
            </a:r>
          </a:p>
          <a:p>
            <a:pPr marL="285750" indent="-285750" algn="just">
              <a:buFont typeface="Arial" panose="020B0604020202020204" pitchFamily="34" charset="0"/>
              <a:buChar char="•"/>
            </a:pPr>
            <a:r>
              <a:rPr lang="en-IN" sz="2000" b="1" dirty="0"/>
              <a:t>Adaptive Mock Interview</a:t>
            </a:r>
            <a:r>
              <a:rPr lang="en-IN" sz="2000" dirty="0"/>
              <a:t> – The Mock Interviewer conducts the interview </a:t>
            </a:r>
            <a:r>
              <a:rPr lang="en-IN" sz="2000" b="1" dirty="0"/>
              <a:t>one question at a time</a:t>
            </a:r>
            <a:r>
              <a:rPr lang="en-IN" sz="2000" dirty="0"/>
              <a:t> and can adapt follow-up questions based on the candidate's responses, making the experience closer to a real interview.</a:t>
            </a:r>
          </a:p>
          <a:p>
            <a:pPr marL="285750" indent="-285750" algn="just">
              <a:buFont typeface="Arial" panose="020B0604020202020204" pitchFamily="34" charset="0"/>
              <a:buChar char="•"/>
            </a:pPr>
            <a:r>
              <a:rPr lang="en-IN" sz="2000" b="1" dirty="0"/>
              <a:t>Multi-Modal Interview Support</a:t>
            </a:r>
            <a:r>
              <a:rPr lang="en-IN" sz="2000" dirty="0"/>
              <a:t> – The platform can support </a:t>
            </a:r>
            <a:r>
              <a:rPr lang="en-IN" sz="2000" b="1" dirty="0"/>
              <a:t>text and voice-based interaction</a:t>
            </a:r>
            <a:r>
              <a:rPr lang="en-IN" sz="2000" dirty="0"/>
              <a:t>, allowing candidates to practice interviews in a more natural way.</a:t>
            </a:r>
          </a:p>
          <a:p>
            <a:pPr algn="just"/>
            <a:r>
              <a:rPr lang="en-IN" sz="2000" dirty="0"/>
              <a:t>Overall, the uniqueness of </a:t>
            </a:r>
            <a:r>
              <a:rPr lang="en-IN" sz="2000" b="1" dirty="0" err="1"/>
              <a:t>InterviewMate</a:t>
            </a:r>
            <a:r>
              <a:rPr lang="en-IN" sz="2000" b="1" dirty="0"/>
              <a:t> AI</a:t>
            </a:r>
            <a:r>
              <a:rPr lang="en-IN" sz="2000" dirty="0"/>
              <a:t> lies in transforming interview preparation from a </a:t>
            </a:r>
            <a:r>
              <a:rPr lang="en-IN" sz="2000" b="1" dirty="0"/>
              <a:t>static question-answer chatbot into a personalized, adaptive, and goal-driven AI interview coach</a:t>
            </a:r>
            <a:r>
              <a:rPr lang="en-IN" sz="2000" dirty="0"/>
              <a:t>.</a:t>
            </a:r>
          </a:p>
        </p:txBody>
      </p:sp>
    </p:spTree>
    <p:extLst>
      <p:ext uri="{BB962C8B-B14F-4D97-AF65-F5344CB8AC3E}">
        <p14:creationId xmlns:p14="http://schemas.microsoft.com/office/powerpoint/2010/main" val="91796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476431"/>
            <a:ext cx="8787384" cy="766049"/>
          </a:xfrm>
          <a:prstGeom prst="rect">
            <a:avLst/>
          </a:prstGeom>
          <a:noFill/>
          <a:ln>
            <a:noFill/>
          </a:ln>
        </p:spPr>
        <p:txBody>
          <a:bodyPr spcFirstLastPara="1" wrap="square" lIns="0" tIns="0" rIns="0" bIns="0" anchor="t" anchorCtr="0">
            <a:noAutofit/>
          </a:bodyPr>
          <a:lstStyle/>
          <a:p>
            <a:pPr lvl="0">
              <a:buClr>
                <a:srgbClr val="2B3541"/>
              </a:buClr>
              <a:buSzPts val="1850"/>
            </a:pPr>
            <a:r>
              <a:rPr lang="en-US" sz="2400" dirty="0" err="1">
                <a:solidFill>
                  <a:srgbClr val="2B3541"/>
                </a:solidFill>
                <a:latin typeface="Times New Roman"/>
                <a:ea typeface="Times New Roman"/>
                <a:cs typeface="Times New Roman"/>
                <a:sym typeface="Times New Roman"/>
              </a:rPr>
              <a:t>Github</a:t>
            </a:r>
            <a:r>
              <a:rPr lang="en-US" sz="2400" dirty="0">
                <a:solidFill>
                  <a:srgbClr val="2B3541"/>
                </a:solidFill>
                <a:latin typeface="Times New Roman"/>
                <a:ea typeface="Times New Roman"/>
                <a:cs typeface="Times New Roman"/>
                <a:sym typeface="Times New Roman"/>
              </a:rPr>
              <a:t> URL –</a:t>
            </a:r>
            <a:r>
              <a:rPr lang="en-IN" sz="2400" dirty="0">
                <a:hlinkClick r:id="rId3"/>
              </a:rPr>
              <a:t>Mounika2515/</a:t>
            </a:r>
            <a:r>
              <a:rPr lang="en-IN" sz="2400" dirty="0" err="1">
                <a:hlinkClick r:id="rId3"/>
              </a:rPr>
              <a:t>InterviewMate</a:t>
            </a:r>
            <a:r>
              <a:rPr lang="en-IN" sz="2400" dirty="0">
                <a:hlinkClick r:id="rId3"/>
              </a:rPr>
              <a:t>-AI</a:t>
            </a:r>
            <a:endParaRPr lang="en-US" sz="2400" dirty="0">
              <a:solidFill>
                <a:srgbClr val="2B3541"/>
              </a:solidFill>
              <a:latin typeface="Times New Roman"/>
              <a:ea typeface="Times New Roman"/>
              <a:cs typeface="Times New Roman"/>
            </a:endParaRPr>
          </a:p>
          <a:p>
            <a:pPr lvl="0">
              <a:lnSpc>
                <a:spcPct val="162162"/>
              </a:lnSpc>
              <a:buClr>
                <a:srgbClr val="2B3541"/>
              </a:buClr>
              <a:buSzPts val="1850"/>
            </a:pPr>
            <a:endParaRPr lang="en-US" sz="240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79082"/>
            <a:ext cx="9346184" cy="4299836"/>
          </a:xfrm>
          <a:prstGeom prst="rect">
            <a:avLst/>
          </a:prstGeom>
          <a:noFill/>
          <a:ln>
            <a:noFill/>
          </a:ln>
        </p:spPr>
        <p:txBody>
          <a:bodyPr spcFirstLastPara="1" wrap="square" lIns="0" tIns="0" rIns="0" bIns="0" anchor="t" anchorCtr="0">
            <a:noAutofit/>
          </a:bodyPr>
          <a:lstStyle/>
          <a:p>
            <a:r>
              <a:rPr lang="en-IN" sz="2000" b="1" dirty="0"/>
              <a:t>1. Integration with Job Portals &amp; Professional Platforms –</a:t>
            </a:r>
            <a:endParaRPr lang="en-IN" sz="2000" dirty="0"/>
          </a:p>
          <a:p>
            <a:r>
              <a:rPr lang="en-IN" sz="2000" dirty="0"/>
              <a:t>The system can be integrated with job portals and professional networking platforms to collect job descriptions, required skills, experience requirements, and role-specific expectations. This will enable </a:t>
            </a:r>
            <a:r>
              <a:rPr lang="en-IN" sz="2000" dirty="0" err="1"/>
              <a:t>InterviewMate</a:t>
            </a:r>
            <a:r>
              <a:rPr lang="en-IN" sz="2000" dirty="0"/>
              <a:t> AI to generate more relevant and personalized interview questions based on current industry requirements and specific job opportunities.</a:t>
            </a:r>
          </a:p>
          <a:p>
            <a:endParaRPr lang="en-IN" sz="2000" dirty="0"/>
          </a:p>
          <a:p>
            <a:r>
              <a:rPr lang="en-IN" sz="2000" b="1" dirty="0"/>
              <a:t>2. AI-Powered Voice Interview &amp; Multilingual Support –</a:t>
            </a:r>
            <a:endParaRPr lang="en-IN" sz="2000" dirty="0"/>
          </a:p>
          <a:p>
            <a:r>
              <a:rPr lang="en-IN" sz="2000" dirty="0"/>
              <a:t>Enhancing the system with a voice-enabled mock interview assistant and multilingual support will improve accessibility and provide a more realistic interview experience. Users can interact with the AI interviewer using their voice and practice interviews in their preferred language, making the platform more interactive, inclusive, and suitable for candidates from diverse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452485AD-C648-477B-7C6E-85EB7ADB5AD8}"/>
              </a:ext>
            </a:extLst>
          </p:cNvPr>
          <p:cNvPicPr>
            <a:picLocks noChangeAspect="1"/>
          </p:cNvPicPr>
          <p:nvPr/>
        </p:nvPicPr>
        <p:blipFill>
          <a:blip r:embed="rId2"/>
          <a:stretch>
            <a:fillRect/>
          </a:stretch>
        </p:blipFill>
        <p:spPr>
          <a:xfrm>
            <a:off x="2444022" y="1215695"/>
            <a:ext cx="7303955" cy="564230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AB61487B-1C97-CA2B-B7D6-078557B58BA0}"/>
              </a:ext>
            </a:extLst>
          </p:cNvPr>
          <p:cNvPicPr>
            <a:picLocks noChangeAspect="1"/>
          </p:cNvPicPr>
          <p:nvPr/>
        </p:nvPicPr>
        <p:blipFill>
          <a:blip r:embed="rId2"/>
          <a:stretch>
            <a:fillRect/>
          </a:stretch>
        </p:blipFill>
        <p:spPr>
          <a:xfrm>
            <a:off x="1479716" y="1897695"/>
            <a:ext cx="9585960" cy="415983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1024</Words>
  <Application>Microsoft Office PowerPoint</Application>
  <PresentationFormat>Widescreen</PresentationFormat>
  <Paragraphs>103</Paragraphs>
  <Slides>23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Pavani Immanni</cp:lastModifiedBy>
  <cp:revision>14</cp:revision>
  <dcterms:created xsi:type="dcterms:W3CDTF">2025-07-08T05:06:56Z</dcterms:created>
  <dcterms:modified xsi:type="dcterms:W3CDTF">2026-09-30T11:19:25Z</dcterms:modified>
</cp:coreProperties>
</file>