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83" r:id="rId2"/>
    <p:sldId id="257" r:id="rId3"/>
    <p:sldId id="282" r:id="rId4"/>
    <p:sldId id="285" r:id="rId5"/>
    <p:sldId id="278" r:id="rId6"/>
    <p:sldId id="281" r:id="rId7"/>
    <p:sldId id="279" r:id="rId8"/>
    <p:sldId id="262" r:id="rId9"/>
    <p:sldId id="264" r:id="rId10"/>
    <p:sldId id="277" r:id="rId11"/>
    <p:sldId id="290" r:id="rId12"/>
    <p:sldId id="291" r:id="rId13"/>
    <p:sldId id="292" r:id="rId14"/>
    <p:sldId id="286" r:id="rId15"/>
    <p:sldId id="287" r:id="rId16"/>
    <p:sldId id="280" r:id="rId17"/>
    <p:sldId id="288" r:id="rId18"/>
    <p:sldId id="289" r:id="rId19"/>
    <p:sldId id="276"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unika karri" userId="56c40964108344a6" providerId="LiveId" clId="{99D68CE2-9100-431F-AAA8-D4B43C8CB1DD}"/>
    <pc:docChg chg="modSld">
      <pc:chgData name="mounika karri" userId="56c40964108344a6" providerId="LiveId" clId="{99D68CE2-9100-431F-AAA8-D4B43C8CB1DD}" dt="2026-09-10T17:19:35.799" v="9" actId="122"/>
      <pc:docMkLst>
        <pc:docMk/>
      </pc:docMkLst>
      <pc:sldChg chg="addSp modSp mod">
        <pc:chgData name="mounika karri" userId="56c40964108344a6" providerId="LiveId" clId="{99D68CE2-9100-431F-AAA8-D4B43C8CB1DD}" dt="2026-09-10T17:19:35.799" v="9" actId="122"/>
        <pc:sldMkLst>
          <pc:docMk/>
          <pc:sldMk cId="0" sldId="257"/>
        </pc:sldMkLst>
        <pc:graphicFrameChg chg="modGraphic">
          <ac:chgData name="mounika karri" userId="56c40964108344a6" providerId="LiveId" clId="{99D68CE2-9100-431F-AAA8-D4B43C8CB1DD}" dt="2026-09-10T17:19:35.799" v="9" actId="122"/>
          <ac:graphicFrameMkLst>
            <pc:docMk/>
            <pc:sldMk cId="0" sldId="257"/>
            <ac:graphicFrameMk id="96" creationId="{00000000-0000-0000-0000-000000000000}"/>
          </ac:graphicFrameMkLst>
        </pc:graphicFrameChg>
        <pc:picChg chg="add mod">
          <ac:chgData name="mounika karri" userId="56c40964108344a6" providerId="LiveId" clId="{99D68CE2-9100-431F-AAA8-D4B43C8CB1DD}" dt="2026-09-10T17:19:25.236" v="8" actId="1076"/>
          <ac:picMkLst>
            <pc:docMk/>
            <pc:sldMk cId="0" sldId="257"/>
            <ac:picMk id="5" creationId="{2010E7D1-36E1-13A2-128D-F4D496B647F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Mounika2515/InterviewMate-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51383109"/>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err="1"/>
                        <a:t>K.Mounika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IN" dirty="0"/>
                        <a:t>mounikakarri50@gmail.com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US" dirty="0"/>
                        <a:t>8978904659</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a:t>
            </a:r>
            <a:r>
              <a:rPr lang="en-US" sz="2400" b="1">
                <a:highlight>
                  <a:srgbClr val="FFFF00"/>
                </a:highlight>
              </a:rPr>
              <a:t>[ like Agriculture / Education / Healthcare / …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t>
            </a:r>
            <a:r>
              <a:rPr lang="en-US" sz="2400" b="1">
                <a:highlight>
                  <a:srgbClr val="FFFF00"/>
                </a:highlight>
              </a:rPr>
              <a:t>[</a:t>
            </a:r>
            <a:r>
              <a:rPr lang="en-US" sz="2400" b="1">
                <a:solidFill>
                  <a:srgbClr val="002060"/>
                </a:solidFill>
                <a:highlight>
                  <a:srgbClr val="FFFF00"/>
                </a:highlight>
                <a:latin typeface="Times New Roman"/>
                <a:ea typeface="Times New Roman"/>
                <a:cs typeface="Times New Roman"/>
                <a:sym typeface="Times New Roman"/>
              </a:rPr>
              <a:t>Write your project title here</a:t>
            </a:r>
            <a:r>
              <a:rPr lang="en-US" sz="2400" b="1">
                <a:highlight>
                  <a:srgbClr val="FFFF00"/>
                </a:highlight>
              </a:rPr>
              <a:t>]</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solidFill>
                  <a:srgbClr val="FF0000"/>
                </a:solidFill>
              </a:rPr>
              <a:t>Recommended font style and size:</a:t>
            </a:r>
            <a:br>
              <a:rPr lang="en-US" sz="2000" dirty="0">
                <a:solidFill>
                  <a:srgbClr val="FF0000"/>
                </a:solidFill>
              </a:rPr>
            </a:br>
            <a:br>
              <a:rPr lang="en-US" sz="2000" dirty="0"/>
            </a:br>
            <a:r>
              <a:rPr lang="en-US" sz="2000" dirty="0">
                <a:solidFill>
                  <a:srgbClr val="FF0000"/>
                </a:solidFill>
              </a:rPr>
              <a:t>Font Style: Arial</a:t>
            </a:r>
            <a:br>
              <a:rPr lang="en-US" sz="2000" dirty="0">
                <a:solidFill>
                  <a:srgbClr val="FF0000"/>
                </a:solidFill>
              </a:rPr>
            </a:br>
            <a:r>
              <a:rPr lang="en-US" sz="2000" dirty="0">
                <a:solidFill>
                  <a:srgbClr val="FF0000"/>
                </a:solidFill>
              </a:rPr>
              <a:t>Font Size (Heading): 28</a:t>
            </a:r>
          </a:p>
          <a:p>
            <a:r>
              <a:rPr lang="en-US" sz="2000" dirty="0">
                <a:solidFill>
                  <a:srgbClr val="FF0000"/>
                </a:solidFill>
              </a:rPr>
              <a:t>Font Size (Content): 20</a:t>
            </a:r>
          </a:p>
        </p:txBody>
      </p:sp>
      <p:pic>
        <p:nvPicPr>
          <p:cNvPr id="5" name="Picture 4">
            <a:extLst>
              <a:ext uri="{FF2B5EF4-FFF2-40B4-BE49-F238E27FC236}">
                <a16:creationId xmlns:a16="http://schemas.microsoft.com/office/drawing/2014/main" id="{2010E7D1-36E1-13A2-128D-F4D496B647FF}"/>
              </a:ext>
            </a:extLst>
          </p:cNvPr>
          <p:cNvPicPr>
            <a:picLocks noChangeAspect="1"/>
          </p:cNvPicPr>
          <p:nvPr/>
        </p:nvPicPr>
        <p:blipFill>
          <a:blip r:embed="rId3"/>
          <a:stretch>
            <a:fillRect/>
          </a:stretch>
        </p:blipFill>
        <p:spPr>
          <a:xfrm>
            <a:off x="4046086" y="3557101"/>
            <a:ext cx="981134" cy="121034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876332"/>
            <a:ext cx="10607040" cy="5693866"/>
          </a:xfrm>
          <a:prstGeom prst="rect">
            <a:avLst/>
          </a:prstGeom>
          <a:noFill/>
        </p:spPr>
        <p:txBody>
          <a:bodyPr wrap="square" rtlCol="0">
            <a:spAutoFit/>
          </a:bodyPr>
          <a:lstStyle/>
          <a:p>
            <a:r>
              <a:rPr lang="en-US" b="1" dirty="0"/>
              <a:t>Problem Statement No.22 – </a:t>
            </a:r>
            <a:r>
              <a:rPr lang="en-US" dirty="0"/>
              <a:t>Interview Trainer Agent </a:t>
            </a:r>
          </a:p>
          <a:p>
            <a:r>
              <a:rPr lang="en-US" b="1" dirty="0"/>
              <a:t>The Challenge </a:t>
            </a:r>
            <a:r>
              <a:rPr lang="en-US" dirty="0"/>
              <a:t>– An Interview Trainer Agent, powered by RAG (Retrieval-Augmented Generation), prepares users for job interviews by generating tailored question sets and preparation strategies based on their profile name, experience level, and job role. It retrieves role-specific interview questions, industry expectations, behavioral scenarios, and HR guidelines from recruitment portals, professional networks, and company interview databases. Users can input their resume or job title, and the agent provides targeted questions, model answers, and improvement tips. It supports both technical and soft skill assessment, ensuring a comprehensive interview prep experience. This AI-driven assistant builds user confidence, sharpens responses, and increases success rates in competitive hiring environments. </a:t>
            </a:r>
          </a:p>
          <a:p>
            <a:pPr fontAlgn="base"/>
            <a:r>
              <a:rPr lang="en-US" b="1" dirty="0"/>
              <a:t>The Objective</a:t>
            </a:r>
            <a:r>
              <a:rPr lang="en-US" dirty="0"/>
              <a:t> </a:t>
            </a:r>
          </a:p>
          <a:p>
            <a:r>
              <a:rPr lang="en-IN" b="1" dirty="0"/>
              <a:t>The Objective</a:t>
            </a:r>
          </a:p>
          <a:p>
            <a:r>
              <a:rPr lang="en-IN" dirty="0"/>
              <a:t>Build an </a:t>
            </a:r>
            <a:r>
              <a:rPr lang="en-IN" b="1" dirty="0"/>
              <a:t>AI-powered Interview Trainer Agent</a:t>
            </a:r>
            <a:r>
              <a:rPr lang="en-IN" dirty="0"/>
              <a:t> that delivers </a:t>
            </a:r>
            <a:r>
              <a:rPr lang="en-IN" b="1" dirty="0"/>
              <a:t>personalized interview preparation and guidance</a:t>
            </a:r>
            <a:r>
              <a:rPr lang="en-IN" dirty="0"/>
              <a:t> for students and job seekers. The solution should:</a:t>
            </a:r>
          </a:p>
          <a:p>
            <a:r>
              <a:rPr lang="en-IN" dirty="0"/>
              <a:t>• </a:t>
            </a:r>
            <a:r>
              <a:rPr lang="en-IN" b="1" dirty="0"/>
              <a:t>Personalized Interview Preparation</a:t>
            </a:r>
            <a:r>
              <a:rPr lang="en-IN" dirty="0"/>
              <a:t> – Generate questions based on resume, skills, experience, and job role.</a:t>
            </a:r>
          </a:p>
          <a:p>
            <a:r>
              <a:rPr lang="en-IN" dirty="0"/>
              <a:t>• </a:t>
            </a:r>
            <a:r>
              <a:rPr lang="en-IN" b="1" dirty="0"/>
              <a:t>Interview Data RAG Retrieval</a:t>
            </a:r>
            <a:r>
              <a:rPr lang="en-IN" dirty="0"/>
              <a:t> – Retrieve relevant technical, coding, HR, </a:t>
            </a:r>
            <a:r>
              <a:rPr lang="en-IN" dirty="0" err="1"/>
              <a:t>behavioral</a:t>
            </a:r>
            <a:r>
              <a:rPr lang="en-IN" dirty="0"/>
              <a:t>, and role-specific interview questions from a knowledge base.</a:t>
            </a:r>
          </a:p>
          <a:p>
            <a:r>
              <a:rPr lang="en-IN" dirty="0"/>
              <a:t>• </a:t>
            </a:r>
            <a:r>
              <a:rPr lang="en-IN" b="1" dirty="0"/>
              <a:t>Mock Interview &amp; Feedback</a:t>
            </a:r>
            <a:r>
              <a:rPr lang="en-IN" dirty="0"/>
              <a:t> – Conduct mock interviews and provide instant feedback on the user's answers.</a:t>
            </a:r>
          </a:p>
          <a:p>
            <a:r>
              <a:rPr lang="en-IN" dirty="0"/>
              <a:t>• </a:t>
            </a:r>
            <a:r>
              <a:rPr lang="en-IN" b="1" dirty="0"/>
              <a:t>Performance Assessment</a:t>
            </a:r>
            <a:r>
              <a:rPr lang="en-IN" dirty="0"/>
              <a:t> – Evaluate technical knowledge, communication, relevance, completeness, and confidence.</a:t>
            </a:r>
          </a:p>
          <a:p>
            <a:r>
              <a:rPr lang="en-IN" dirty="0"/>
              <a:t>• </a:t>
            </a:r>
            <a:r>
              <a:rPr lang="en-IN" b="1" dirty="0"/>
              <a:t>Resume Analysis</a:t>
            </a:r>
            <a:r>
              <a:rPr lang="en-IN" dirty="0"/>
              <a:t> – </a:t>
            </a:r>
            <a:r>
              <a:rPr lang="en-IN" dirty="0" err="1"/>
              <a:t>Analyze</a:t>
            </a:r>
            <a:r>
              <a:rPr lang="en-IN" dirty="0"/>
              <a:t> the user's resume and identify skills, projects, education, experience, and certifications.</a:t>
            </a:r>
          </a:p>
          <a:p>
            <a:r>
              <a:rPr lang="en-IN" dirty="0"/>
              <a:t>• </a:t>
            </a:r>
            <a:r>
              <a:rPr lang="en-IN" b="1" dirty="0"/>
              <a:t>Multi-Agent System</a:t>
            </a:r>
            <a:r>
              <a:rPr lang="en-IN" dirty="0"/>
              <a:t> –</a:t>
            </a:r>
          </a:p>
          <a:p>
            <a:r>
              <a:rPr lang="en-IN" dirty="0"/>
              <a:t>• </a:t>
            </a:r>
            <a:r>
              <a:rPr lang="en-IN" b="1" dirty="0"/>
              <a:t>Resume Analyzer Agent</a:t>
            </a:r>
            <a:r>
              <a:rPr lang="en-IN" dirty="0"/>
              <a:t> (</a:t>
            </a:r>
            <a:r>
              <a:rPr lang="en-IN" dirty="0" err="1"/>
              <a:t>analyzes</a:t>
            </a:r>
            <a:r>
              <a:rPr lang="en-IN" dirty="0"/>
              <a:t> candidate resume)</a:t>
            </a:r>
          </a:p>
          <a:p>
            <a:r>
              <a:rPr lang="en-IN" dirty="0"/>
              <a:t>• </a:t>
            </a:r>
            <a:r>
              <a:rPr lang="en-IN" b="1" dirty="0"/>
              <a:t>Question Generator Agent</a:t>
            </a:r>
            <a:r>
              <a:rPr lang="en-IN" dirty="0"/>
              <a:t> (generates personalized interview questions)</a:t>
            </a:r>
          </a:p>
          <a:p>
            <a:r>
              <a:rPr lang="en-IN" dirty="0"/>
              <a:t>• </a:t>
            </a:r>
            <a:r>
              <a:rPr lang="en-IN" b="1" dirty="0"/>
              <a:t>Mock Interviewer Agent</a:t>
            </a:r>
            <a:r>
              <a:rPr lang="en-IN" dirty="0"/>
              <a:t> (conducts interactive mock interviews)</a:t>
            </a:r>
          </a:p>
          <a:p>
            <a:r>
              <a:rPr lang="en-IN" dirty="0"/>
              <a:t>• </a:t>
            </a:r>
            <a:r>
              <a:rPr lang="en-IN" b="1" dirty="0"/>
              <a:t>Evaluation Agent</a:t>
            </a:r>
            <a:r>
              <a:rPr lang="en-IN" dirty="0"/>
              <a:t> (evaluates answers and provides feedback)</a:t>
            </a:r>
          </a:p>
          <a:p>
            <a:r>
              <a:rPr lang="en-IN" dirty="0"/>
              <a:t>• </a:t>
            </a:r>
            <a:r>
              <a:rPr lang="en-IN" b="1" dirty="0"/>
              <a:t>Interview Orchestrator Agent</a:t>
            </a:r>
            <a:r>
              <a:rPr lang="en-IN" dirty="0"/>
              <a:t> (coordinates all agents and manages the interview process)</a:t>
            </a:r>
          </a:p>
          <a:p>
            <a:r>
              <a:rPr lang="en-IN" dirty="0"/>
              <a:t>• </a:t>
            </a:r>
            <a:r>
              <a:rPr lang="en-IN" b="1" dirty="0"/>
              <a:t>Progress Dashboard</a:t>
            </a:r>
            <a:r>
              <a:rPr lang="en-IN" dirty="0"/>
              <a:t> – Show interview scores, strengths, weaknesses, interview history, and progress.</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3992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970457"/>
            <a:ext cx="10607040" cy="5478423"/>
          </a:xfrm>
          <a:prstGeom prst="rect">
            <a:avLst/>
          </a:prstGeom>
          <a:noFill/>
        </p:spPr>
        <p:txBody>
          <a:bodyPr wrap="square" rtlCol="0">
            <a:spAutoFit/>
          </a:bodyPr>
          <a:lstStyle/>
          <a:p>
            <a:r>
              <a:rPr lang="en-IN" b="1" dirty="0"/>
              <a:t>Proposed Solution: AI-Powered Interview Trainer Agent</a:t>
            </a:r>
          </a:p>
          <a:p>
            <a:r>
              <a:rPr lang="en-IN" dirty="0"/>
              <a:t>The proposed solution is a </a:t>
            </a:r>
            <a:r>
              <a:rPr lang="en-IN" b="1" dirty="0"/>
              <a:t>multi-agent AI-powered Interview Trainer Agent</a:t>
            </a:r>
            <a:r>
              <a:rPr lang="en-IN" dirty="0"/>
              <a:t> built using </a:t>
            </a:r>
            <a:r>
              <a:rPr lang="en-IN" b="1" dirty="0"/>
              <a:t>IBM </a:t>
            </a:r>
            <a:r>
              <a:rPr lang="en-IN" b="1" dirty="0" err="1"/>
              <a:t>watsonx</a:t>
            </a:r>
            <a:r>
              <a:rPr lang="en-IN" b="1" dirty="0"/>
              <a:t> Orchestrate, watsonx.ai, IBM Granite Models, and RAG</a:t>
            </a:r>
            <a:r>
              <a:rPr lang="en-IN" dirty="0"/>
              <a:t> to provide personalized interview preparation and real-time interview guidance.</a:t>
            </a:r>
          </a:p>
          <a:p>
            <a:r>
              <a:rPr lang="en-IN" dirty="0"/>
              <a:t>At its core, the system uses a </a:t>
            </a:r>
            <a:r>
              <a:rPr lang="en-IN" b="1" dirty="0"/>
              <a:t>Retrieval-Augmented Generation (RAG)</a:t>
            </a:r>
            <a:r>
              <a:rPr lang="en-IN" dirty="0"/>
              <a:t> pipeline to retrieve relevant interview questions, role expectations, technical concepts, HR questions, and </a:t>
            </a:r>
            <a:r>
              <a:rPr lang="en-IN" dirty="0" err="1"/>
              <a:t>behavioral</a:t>
            </a:r>
            <a:r>
              <a:rPr lang="en-IN" dirty="0"/>
              <a:t> scenarios from a structured knowledge base. IBM Granite models are used for question generation, reasoning, evaluation, and personalized feedback.</a:t>
            </a:r>
          </a:p>
          <a:p>
            <a:r>
              <a:rPr lang="en-IN" dirty="0"/>
              <a:t>The system consists of </a:t>
            </a:r>
            <a:r>
              <a:rPr lang="en-IN" b="1" dirty="0"/>
              <a:t>five key agents</a:t>
            </a:r>
            <a:r>
              <a:rPr lang="en-IN" dirty="0"/>
              <a:t>:</a:t>
            </a:r>
          </a:p>
          <a:p>
            <a:r>
              <a:rPr lang="en-IN" b="1" dirty="0"/>
              <a:t>Resume Analyzer Agent</a:t>
            </a:r>
            <a:r>
              <a:rPr lang="en-IN" dirty="0"/>
              <a:t> </a:t>
            </a:r>
            <a:r>
              <a:rPr lang="en-IN" dirty="0" err="1"/>
              <a:t>analyzes</a:t>
            </a:r>
            <a:r>
              <a:rPr lang="en-IN" dirty="0"/>
              <a:t> the user's resume and extracts information such as skills, education, projects, experience, and certifications.</a:t>
            </a:r>
          </a:p>
          <a:p>
            <a:r>
              <a:rPr lang="en-IN" b="1" dirty="0"/>
              <a:t>Question Generator Agent</a:t>
            </a:r>
            <a:r>
              <a:rPr lang="en-IN" dirty="0"/>
              <a:t> generates personalized interview questions based on the user's resume, job role, skills, experience, and selected difficulty.</a:t>
            </a:r>
          </a:p>
          <a:p>
            <a:r>
              <a:rPr lang="en-IN" b="1" dirty="0"/>
              <a:t>Mock Interviewer Agent</a:t>
            </a:r>
            <a:r>
              <a:rPr lang="en-IN" dirty="0"/>
              <a:t> conducts an interactive mock interview by asking questions one at a time and adapting follow-up questions based on the user's answers.</a:t>
            </a:r>
          </a:p>
          <a:p>
            <a:r>
              <a:rPr lang="en-IN" b="1" dirty="0"/>
              <a:t>Evaluation Agent</a:t>
            </a:r>
            <a:r>
              <a:rPr lang="en-IN" dirty="0"/>
              <a:t> evaluates the user's responses based on technical accuracy, relevance, completeness, communication, and depth, providing scores, strengths, and improvement suggestions.</a:t>
            </a:r>
          </a:p>
          <a:p>
            <a:r>
              <a:rPr lang="en-IN" b="1" dirty="0"/>
              <a:t>Interview Orchestrator Agent</a:t>
            </a:r>
            <a:r>
              <a:rPr lang="en-IN" dirty="0"/>
              <a:t> coordinates the complete workflow between the Resume Analyzer, Question Generator, Mock Interviewer, and Evaluation Agents.</a:t>
            </a:r>
          </a:p>
          <a:p>
            <a:r>
              <a:rPr lang="en-IN" dirty="0"/>
              <a:t>The solution includes a </a:t>
            </a:r>
            <a:r>
              <a:rPr lang="en-IN" b="1" dirty="0"/>
              <a:t>user-friendly dashboard</a:t>
            </a:r>
            <a:r>
              <a:rPr lang="en-IN" dirty="0"/>
              <a:t> that displays interview history, scores, strengths, weaknesses, question performance, and overall progress. Users can also interact with the Question Bank and participate in text- or voice-based mock interviews.</a:t>
            </a:r>
          </a:p>
          <a:p>
            <a:r>
              <a:rPr lang="en-IN" b="1" dirty="0"/>
              <a:t>IBM </a:t>
            </a:r>
            <a:r>
              <a:rPr lang="en-IN" b="1" dirty="0" err="1"/>
              <a:t>watsonx</a:t>
            </a:r>
            <a:r>
              <a:rPr lang="en-IN" b="1" dirty="0"/>
              <a:t> Orchestrate</a:t>
            </a:r>
            <a:r>
              <a:rPr lang="en-IN" dirty="0"/>
              <a:t> is used to coordinate the multi-agent workflow, while </a:t>
            </a:r>
            <a:r>
              <a:rPr lang="en-IN" b="1" dirty="0"/>
              <a:t>watsonx.ai and IBM Granite models</a:t>
            </a:r>
            <a:r>
              <a:rPr lang="en-IN" dirty="0"/>
              <a:t> provide AI capabilities. The </a:t>
            </a:r>
            <a:r>
              <a:rPr lang="en-IN" b="1" dirty="0"/>
              <a:t>RAG knowledge base</a:t>
            </a:r>
            <a:r>
              <a:rPr lang="en-IN" dirty="0"/>
              <a:t> provides relevant and reliable interview information to improve personalization and response quality.</a:t>
            </a:r>
          </a:p>
          <a:p>
            <a:r>
              <a:rPr lang="en-IN" dirty="0"/>
              <a:t>Overall, the solution delivers an </a:t>
            </a:r>
            <a:r>
              <a:rPr lang="en-IN" b="1" dirty="0"/>
              <a:t>end-to-end intelligent interview preparation platform</a:t>
            </a:r>
            <a:r>
              <a:rPr lang="en-IN" dirty="0"/>
              <a:t> that helps students and job seekers practice interviews, identify skill gaps, improve communication, and prepare effectively for their target roles.</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409120"/>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069357"/>
            <a:ext cx="10515600" cy="5632311"/>
          </a:xfrm>
          <a:prstGeom prst="rect">
            <a:avLst/>
          </a:prstGeom>
          <a:noFill/>
        </p:spPr>
        <p:txBody>
          <a:bodyPr wrap="square" rtlCol="0">
            <a:spAutoFit/>
          </a:bodyPr>
          <a:lstStyle/>
          <a:p>
            <a:r>
              <a:rPr lang="en-IN" sz="1500" dirty="0"/>
              <a:t>• </a:t>
            </a:r>
            <a:r>
              <a:rPr lang="en-IN" sz="1500" b="1" dirty="0"/>
              <a:t>IBM </a:t>
            </a:r>
            <a:r>
              <a:rPr lang="en-IN" sz="1500" b="1" dirty="0" err="1"/>
              <a:t>watsonx</a:t>
            </a:r>
            <a:r>
              <a:rPr lang="en-IN" sz="1500" b="1" dirty="0"/>
              <a:t> Orchestrate</a:t>
            </a:r>
            <a:r>
              <a:rPr lang="en-IN" sz="1500" dirty="0"/>
              <a:t> – For designing and orchestrating </a:t>
            </a:r>
            <a:r>
              <a:rPr lang="en-IN" sz="1500" b="1" dirty="0"/>
              <a:t>multi-agent interview workflows</a:t>
            </a:r>
            <a:r>
              <a:rPr lang="en-IN" sz="1500" dirty="0"/>
              <a:t> visually</a:t>
            </a:r>
          </a:p>
          <a:p>
            <a:endParaRPr lang="en-IN" sz="1500" dirty="0"/>
          </a:p>
          <a:p>
            <a:r>
              <a:rPr lang="en-IN" sz="1500" dirty="0"/>
              <a:t>• </a:t>
            </a:r>
            <a:r>
              <a:rPr lang="en-IN" sz="1500" b="1" dirty="0"/>
              <a:t>IBM Granite Model</a:t>
            </a:r>
            <a:r>
              <a:rPr lang="en-IN" sz="1500" dirty="0"/>
              <a:t> – For natural language understanding, reasoning, </a:t>
            </a:r>
            <a:r>
              <a:rPr lang="en-IN" sz="1500" b="1" dirty="0"/>
              <a:t>personalized question generation, answer evaluation, and feedback</a:t>
            </a:r>
            <a:endParaRPr lang="en-IN" sz="1500" dirty="0"/>
          </a:p>
          <a:p>
            <a:endParaRPr lang="en-IN" sz="1500" dirty="0"/>
          </a:p>
          <a:p>
            <a:r>
              <a:rPr lang="en-IN" sz="1500" dirty="0"/>
              <a:t>• </a:t>
            </a:r>
            <a:r>
              <a:rPr lang="en-IN" sz="1500" b="1" dirty="0"/>
              <a:t>IBM Cloud</a:t>
            </a:r>
            <a:r>
              <a:rPr lang="en-IN" sz="1500" dirty="0"/>
              <a:t> – It provides the infrastructure to </a:t>
            </a:r>
            <a:r>
              <a:rPr lang="en-IN" sz="1500" b="1" dirty="0"/>
              <a:t>build, deploy, and scale the </a:t>
            </a:r>
            <a:r>
              <a:rPr lang="en-IN" sz="1500" b="1" dirty="0" err="1"/>
              <a:t>InterviewMate</a:t>
            </a:r>
            <a:r>
              <a:rPr lang="en-IN" sz="1500" b="1" dirty="0"/>
              <a:t> AI Agent</a:t>
            </a:r>
            <a:r>
              <a:rPr lang="en-IN" sz="1500" dirty="0"/>
              <a:t> efficiently. IBM Cloud enables a </a:t>
            </a:r>
            <a:r>
              <a:rPr lang="en-IN" sz="1500" b="1" dirty="0"/>
              <a:t>reliable, secure, and scalable environment</a:t>
            </a:r>
            <a:r>
              <a:rPr lang="en-IN" sz="1500" dirty="0"/>
              <a:t> for deploying the system.</a:t>
            </a:r>
          </a:p>
          <a:p>
            <a:endParaRPr lang="en-IN" sz="1500" dirty="0"/>
          </a:p>
          <a:p>
            <a:r>
              <a:rPr lang="en-IN" sz="1500" dirty="0"/>
              <a:t>• </a:t>
            </a:r>
            <a:r>
              <a:rPr lang="en-IN" sz="1500" b="1" dirty="0"/>
              <a:t>RAG</a:t>
            </a:r>
            <a:r>
              <a:rPr lang="en-IN" sz="1500" dirty="0"/>
              <a:t> – RAG is used to </a:t>
            </a:r>
            <a:r>
              <a:rPr lang="en-IN" sz="1500" b="1" dirty="0"/>
              <a:t>fetch relevant interview information from the knowledge base first, then generate intelligent and personalized questions and feedback</a:t>
            </a:r>
            <a:r>
              <a:rPr lang="en-IN" sz="1500" dirty="0"/>
              <a:t>, making the </a:t>
            </a:r>
            <a:r>
              <a:rPr lang="en-IN" sz="1500" dirty="0" err="1"/>
              <a:t>InterviewMate</a:t>
            </a:r>
            <a:r>
              <a:rPr lang="en-IN" sz="1500" dirty="0"/>
              <a:t> AI more reliable and effective.</a:t>
            </a:r>
          </a:p>
          <a:p>
            <a:endParaRPr lang="en-IN" sz="1500" dirty="0"/>
          </a:p>
          <a:p>
            <a:r>
              <a:rPr lang="en-IN" sz="1500" dirty="0"/>
              <a:t>• </a:t>
            </a:r>
            <a:r>
              <a:rPr lang="en-IN" sz="1500" b="1" dirty="0"/>
              <a:t>IBM watsonx.ai</a:t>
            </a:r>
            <a:r>
              <a:rPr lang="en-IN" sz="1500" dirty="0"/>
              <a:t> – For </a:t>
            </a:r>
            <a:r>
              <a:rPr lang="en-IN" sz="1500" b="1" dirty="0"/>
              <a:t>AI model experimentation, prompt engineering, model deployment, and AI governance</a:t>
            </a:r>
            <a:endParaRPr lang="en-IN" sz="1500" dirty="0"/>
          </a:p>
          <a:p>
            <a:endParaRPr lang="en-IN" sz="1500" dirty="0"/>
          </a:p>
          <a:p>
            <a:r>
              <a:rPr lang="en-IN" sz="1500" dirty="0"/>
              <a:t>• </a:t>
            </a:r>
            <a:r>
              <a:rPr lang="en-IN" sz="1500" b="1" dirty="0"/>
              <a:t>Knowledge Base</a:t>
            </a:r>
            <a:r>
              <a:rPr lang="en-IN" sz="1500" dirty="0"/>
              <a:t> – Contains </a:t>
            </a:r>
            <a:r>
              <a:rPr lang="en-IN" sz="1500" b="1" dirty="0"/>
              <a:t>Python, ML, AI/ML, SQL, DSA, HR, </a:t>
            </a:r>
            <a:r>
              <a:rPr lang="en-IN" sz="1500" b="1" dirty="0" err="1"/>
              <a:t>behavioral</a:t>
            </a:r>
            <a:r>
              <a:rPr lang="en-IN" sz="1500" b="1" dirty="0"/>
              <a:t>, interview preparation, and role-expectation data</a:t>
            </a:r>
            <a:r>
              <a:rPr lang="en-IN" sz="1500" dirty="0"/>
              <a:t> for RAG-based retrieval</a:t>
            </a:r>
          </a:p>
          <a:p>
            <a:endParaRPr lang="en-IN" sz="1500" dirty="0"/>
          </a:p>
          <a:p>
            <a:r>
              <a:rPr lang="en-IN" sz="1500" dirty="0"/>
              <a:t>• </a:t>
            </a:r>
            <a:r>
              <a:rPr lang="en-IN" sz="1500" b="1" dirty="0"/>
              <a:t>A2A (Agent-to-Agent)</a:t>
            </a:r>
            <a:r>
              <a:rPr lang="en-IN" sz="1500" dirty="0"/>
              <a:t> – For communication and coordination between the </a:t>
            </a:r>
            <a:r>
              <a:rPr lang="en-IN" sz="1500" b="1" dirty="0"/>
              <a:t>five specialized AI agents</a:t>
            </a:r>
            <a:endParaRPr lang="en-IN" sz="1500" dirty="0"/>
          </a:p>
          <a:p>
            <a:endParaRPr lang="en-IN" sz="1500" dirty="0"/>
          </a:p>
          <a:p>
            <a:r>
              <a:rPr lang="en-IN" sz="1500" dirty="0"/>
              <a:t>• </a:t>
            </a:r>
            <a:r>
              <a:rPr lang="en-IN" sz="1500" b="1" dirty="0"/>
              <a:t>React.js</a:t>
            </a:r>
            <a:r>
              <a:rPr lang="en-IN" sz="1500" dirty="0"/>
              <a:t> – For developing the </a:t>
            </a:r>
            <a:r>
              <a:rPr lang="en-IN" sz="1500" b="1" dirty="0"/>
              <a:t>interactive and user-friendly </a:t>
            </a:r>
            <a:r>
              <a:rPr lang="en-IN" sz="1500" b="1" dirty="0" err="1"/>
              <a:t>InterviewMate</a:t>
            </a:r>
            <a:r>
              <a:rPr lang="en-IN" sz="1500" b="1" dirty="0"/>
              <a:t> AI web interface</a:t>
            </a:r>
            <a:endParaRPr lang="en-IN" sz="1500" dirty="0"/>
          </a:p>
          <a:p>
            <a:endParaRPr lang="en-IN" sz="1500" dirty="0"/>
          </a:p>
          <a:p>
            <a:r>
              <a:rPr lang="en-IN" sz="1500" dirty="0"/>
              <a:t>• </a:t>
            </a:r>
            <a:r>
              <a:rPr lang="en-IN" sz="1500" b="1" dirty="0" err="1"/>
              <a:t>FastAPI</a:t>
            </a:r>
            <a:r>
              <a:rPr lang="en-IN" sz="1500" dirty="0"/>
              <a:t> – For building the </a:t>
            </a:r>
            <a:r>
              <a:rPr lang="en-IN" sz="1500" b="1" dirty="0"/>
              <a:t>backend APIs</a:t>
            </a:r>
            <a:r>
              <a:rPr lang="en-IN" sz="1500" dirty="0"/>
              <a:t> and connecting the web application with IBM </a:t>
            </a:r>
            <a:r>
              <a:rPr lang="en-IN" sz="1500" dirty="0" err="1"/>
              <a:t>watsonx</a:t>
            </a:r>
            <a:r>
              <a:rPr lang="en-IN" sz="1500" dirty="0"/>
              <a:t> Orchestrate agents</a:t>
            </a:r>
          </a:p>
          <a:p>
            <a:endParaRPr lang="en-IN" sz="1500" dirty="0"/>
          </a:p>
          <a:p>
            <a:r>
              <a:rPr lang="en-IN" sz="1500" dirty="0"/>
              <a:t>• </a:t>
            </a:r>
            <a:r>
              <a:rPr lang="en-IN" sz="1500" b="1" dirty="0" err="1"/>
              <a:t>Supabase</a:t>
            </a:r>
            <a:r>
              <a:rPr lang="en-IN" sz="1500" b="1" dirty="0"/>
              <a:t> &amp; PostgreSQL</a:t>
            </a:r>
            <a:r>
              <a:rPr lang="en-IN" sz="1500" dirty="0"/>
              <a:t> – For </a:t>
            </a:r>
            <a:r>
              <a:rPr lang="en-IN" sz="1500" b="1" dirty="0"/>
              <a:t>user authentication, profiles, interview history, scores, and application data</a:t>
            </a:r>
            <a:endParaRPr lang="en-IN" sz="1500" dirty="0"/>
          </a:p>
          <a:p>
            <a:endParaRPr lang="en-IN" sz="1500"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474821" y="97097"/>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1" y="637045"/>
            <a:ext cx="11510702" cy="6192529"/>
          </a:xfrm>
          <a:prstGeom prst="rect">
            <a:avLst/>
          </a:prstGeom>
          <a:noFill/>
        </p:spPr>
        <p:txBody>
          <a:bodyPr wrap="square" rtlCol="0">
            <a:spAutoFit/>
          </a:bodyPr>
          <a:lstStyle/>
          <a:p>
            <a:pPr>
              <a:lnSpc>
                <a:spcPct val="150000"/>
              </a:lnSpc>
            </a:pPr>
            <a:r>
              <a:rPr lang="en-IN" b="1" dirty="0"/>
              <a:t>1) Chat/Input Component</a:t>
            </a:r>
            <a:r>
              <a:rPr lang="en-IN" dirty="0"/>
              <a:t> – Interface where users enter their </a:t>
            </a:r>
            <a:r>
              <a:rPr lang="en-IN" b="1" dirty="0"/>
              <a:t>interview preferences, job role, experience, resume details, and answers</a:t>
            </a:r>
            <a:r>
              <a:rPr lang="en-IN" dirty="0"/>
              <a:t> through text or voice.</a:t>
            </a:r>
          </a:p>
          <a:p>
            <a:pPr>
              <a:lnSpc>
                <a:spcPct val="150000"/>
              </a:lnSpc>
            </a:pPr>
            <a:r>
              <a:rPr lang="en-IN" b="1" dirty="0"/>
              <a:t>2) IBM </a:t>
            </a:r>
            <a:r>
              <a:rPr lang="en-IN" b="1" dirty="0" err="1"/>
              <a:t>watsonx</a:t>
            </a:r>
            <a:r>
              <a:rPr lang="en-IN" b="1" dirty="0"/>
              <a:t> Orchestrate Agent</a:t>
            </a:r>
            <a:r>
              <a:rPr lang="en-IN" dirty="0"/>
              <a:t> – Coordinates the </a:t>
            </a:r>
            <a:r>
              <a:rPr lang="en-IN" b="1" dirty="0"/>
              <a:t>multi-agent interview workflow</a:t>
            </a:r>
            <a:r>
              <a:rPr lang="en-IN" dirty="0"/>
              <a:t> and manages communication between the specialized agents.</a:t>
            </a:r>
          </a:p>
          <a:p>
            <a:pPr>
              <a:lnSpc>
                <a:spcPct val="150000"/>
              </a:lnSpc>
            </a:pPr>
            <a:r>
              <a:rPr lang="en-IN" b="1" dirty="0"/>
              <a:t>3) IBM Granite Model</a:t>
            </a:r>
            <a:r>
              <a:rPr lang="en-IN" dirty="0"/>
              <a:t> – </a:t>
            </a:r>
            <a:r>
              <a:rPr lang="en-IN" b="1" dirty="0"/>
              <a:t>Granite-4.0-8B-Instruct</a:t>
            </a:r>
            <a:r>
              <a:rPr lang="en-IN" dirty="0"/>
              <a:t> → Used for natural language understanding, reasoning, personalized question generation, answer evaluation, and feedback.</a:t>
            </a:r>
          </a:p>
          <a:p>
            <a:pPr>
              <a:lnSpc>
                <a:spcPct val="150000"/>
              </a:lnSpc>
            </a:pPr>
            <a:r>
              <a:rPr lang="en-IN" b="1" dirty="0"/>
              <a:t>4) Chat Output Component</a:t>
            </a:r>
            <a:r>
              <a:rPr lang="en-IN" dirty="0"/>
              <a:t> – Displays AI-generated </a:t>
            </a:r>
            <a:r>
              <a:rPr lang="en-IN" b="1" dirty="0"/>
              <a:t>interview questions, model answers, feedback, scores, and improvement suggestions</a:t>
            </a:r>
            <a:r>
              <a:rPr lang="en-IN" dirty="0"/>
              <a:t>.</a:t>
            </a:r>
          </a:p>
          <a:p>
            <a:pPr>
              <a:lnSpc>
                <a:spcPct val="150000"/>
              </a:lnSpc>
            </a:pPr>
            <a:r>
              <a:rPr lang="en-IN" b="1" dirty="0"/>
              <a:t>5) File Component</a:t>
            </a:r>
            <a:r>
              <a:rPr lang="en-IN" dirty="0"/>
              <a:t> – Used to </a:t>
            </a:r>
            <a:r>
              <a:rPr lang="en-IN" b="1" dirty="0"/>
              <a:t>upload and process resumes</a:t>
            </a:r>
            <a:r>
              <a:rPr lang="en-IN" dirty="0"/>
              <a:t> and provide interview-related documents/knowledge for analysis.</a:t>
            </a:r>
          </a:p>
          <a:p>
            <a:pPr>
              <a:lnSpc>
                <a:spcPct val="150000"/>
              </a:lnSpc>
            </a:pPr>
            <a:r>
              <a:rPr lang="en-IN" b="1" dirty="0"/>
              <a:t>6) RAG / Knowledge Base Component</a:t>
            </a:r>
            <a:r>
              <a:rPr lang="en-IN" dirty="0"/>
              <a:t> – Retrieves relevant information from the </a:t>
            </a:r>
            <a:r>
              <a:rPr lang="en-IN" b="1" dirty="0"/>
              <a:t>Python, ML, AI/ML, SQL, DSA, HR, </a:t>
            </a:r>
            <a:r>
              <a:rPr lang="en-IN" b="1" dirty="0" err="1"/>
              <a:t>behavioral</a:t>
            </a:r>
            <a:r>
              <a:rPr lang="en-IN" b="1" dirty="0"/>
              <a:t>, and interview-preparation knowledge base</a:t>
            </a:r>
            <a:r>
              <a:rPr lang="en-IN" dirty="0"/>
              <a:t> to generate relevant questions and responses.</a:t>
            </a:r>
          </a:p>
          <a:p>
            <a:pPr>
              <a:lnSpc>
                <a:spcPct val="150000"/>
              </a:lnSpc>
            </a:pPr>
            <a:r>
              <a:rPr lang="en-IN" b="1" dirty="0"/>
              <a:t>7) Resume Analyzer Agent</a:t>
            </a:r>
            <a:r>
              <a:rPr lang="en-IN" dirty="0"/>
              <a:t> – Extracts </a:t>
            </a:r>
            <a:r>
              <a:rPr lang="en-IN" b="1" dirty="0"/>
              <a:t>education, skills, projects, experience, certifications, and achievements</a:t>
            </a:r>
            <a:r>
              <a:rPr lang="en-IN" dirty="0"/>
              <a:t> from the user's resume.</a:t>
            </a:r>
          </a:p>
          <a:p>
            <a:pPr>
              <a:lnSpc>
                <a:spcPct val="150000"/>
              </a:lnSpc>
            </a:pPr>
            <a:r>
              <a:rPr lang="en-IN" b="1" dirty="0"/>
              <a:t>8) Question Generator Agent</a:t>
            </a:r>
            <a:r>
              <a:rPr lang="en-IN" dirty="0"/>
              <a:t> – Generates </a:t>
            </a:r>
            <a:r>
              <a:rPr lang="en-IN" b="1" dirty="0"/>
              <a:t>personalized interview questions</a:t>
            </a:r>
            <a:r>
              <a:rPr lang="en-IN" dirty="0"/>
              <a:t> based on the user's resume, job role, skills, and experience.</a:t>
            </a:r>
          </a:p>
          <a:p>
            <a:pPr>
              <a:lnSpc>
                <a:spcPct val="150000"/>
              </a:lnSpc>
            </a:pPr>
            <a:r>
              <a:rPr lang="en-IN" b="1" dirty="0"/>
              <a:t>9) Mock Interviewer Agent</a:t>
            </a:r>
            <a:r>
              <a:rPr lang="en-IN" dirty="0"/>
              <a:t> – Conducts the </a:t>
            </a:r>
            <a:r>
              <a:rPr lang="en-IN" b="1" dirty="0"/>
              <a:t>interactive mock interview</a:t>
            </a:r>
            <a:r>
              <a:rPr lang="en-IN" dirty="0"/>
              <a:t>, asking questions one at a time and generating follow-up questions.</a:t>
            </a:r>
          </a:p>
          <a:p>
            <a:pPr>
              <a:lnSpc>
                <a:spcPct val="150000"/>
              </a:lnSpc>
            </a:pPr>
            <a:r>
              <a:rPr lang="en-IN" b="1" dirty="0"/>
              <a:t>10) Evaluation Agent</a:t>
            </a:r>
            <a:r>
              <a:rPr lang="en-IN" dirty="0"/>
              <a:t> – Evaluates user answers and provides </a:t>
            </a:r>
            <a:r>
              <a:rPr lang="en-IN" b="1" dirty="0"/>
              <a:t>scores, strengths, weaknesses, and improvement suggestions</a:t>
            </a:r>
            <a:r>
              <a:rPr lang="en-IN" dirty="0"/>
              <a:t>.</a:t>
            </a:r>
          </a:p>
          <a:p>
            <a:pPr>
              <a:lnSpc>
                <a:spcPct val="150000"/>
              </a:lnSpc>
            </a:pPr>
            <a:r>
              <a:rPr lang="en-IN" b="1" dirty="0"/>
              <a:t>11) A2A Component</a:t>
            </a:r>
            <a:r>
              <a:rPr lang="en-IN" dirty="0"/>
              <a:t> – Enables </a:t>
            </a:r>
            <a:r>
              <a:rPr lang="en-IN" b="1" dirty="0"/>
              <a:t>Agent-to-Agent communication</a:t>
            </a:r>
            <a:r>
              <a:rPr lang="en-IN" dirty="0"/>
              <a:t> between the five agents to complete the interview workflow.</a:t>
            </a:r>
          </a:p>
          <a:p>
            <a:pPr>
              <a:lnSpc>
                <a:spcPct val="150000"/>
              </a:lnSpc>
            </a:pPr>
            <a:r>
              <a:rPr lang="en-IN" b="1" dirty="0"/>
              <a:t>12) PostgreSQL / </a:t>
            </a:r>
            <a:r>
              <a:rPr lang="en-IN" b="1" dirty="0" err="1"/>
              <a:t>Supabase</a:t>
            </a:r>
            <a:r>
              <a:rPr lang="en-IN" b="1" dirty="0"/>
              <a:t> Component</a:t>
            </a:r>
            <a:r>
              <a:rPr lang="en-IN" dirty="0"/>
              <a:t> – Stores </a:t>
            </a:r>
            <a:r>
              <a:rPr lang="en-IN" b="1" dirty="0"/>
              <a:t>user profiles, authentication data, interview history, scores, and progress</a:t>
            </a:r>
            <a:r>
              <a:rPr lang="en-IN" dirty="0"/>
              <a:t>.</a:t>
            </a:r>
          </a:p>
          <a:p>
            <a:pPr>
              <a:lnSpc>
                <a:spcPct val="150000"/>
              </a:lnSpc>
            </a:pPr>
            <a:r>
              <a:rPr lang="en-IN" b="1" dirty="0"/>
              <a:t>13) React.js Component</a:t>
            </a:r>
            <a:r>
              <a:rPr lang="en-IN" dirty="0"/>
              <a:t> – Provides the </a:t>
            </a:r>
            <a:r>
              <a:rPr lang="en-IN" b="1" dirty="0"/>
              <a:t>frontend interface</a:t>
            </a:r>
            <a:r>
              <a:rPr lang="en-IN" dirty="0"/>
              <a:t> for the </a:t>
            </a:r>
            <a:r>
              <a:rPr lang="en-IN" dirty="0" err="1"/>
              <a:t>InterviewMate</a:t>
            </a:r>
            <a:r>
              <a:rPr lang="en-IN" dirty="0"/>
              <a:t> AI web application.</a:t>
            </a:r>
          </a:p>
          <a:p>
            <a:pPr>
              <a:lnSpc>
                <a:spcPct val="150000"/>
              </a:lnSpc>
            </a:pPr>
            <a:r>
              <a:rPr lang="en-IN" b="1" dirty="0"/>
              <a:t>14) </a:t>
            </a:r>
            <a:r>
              <a:rPr lang="en-IN" b="1" dirty="0" err="1"/>
              <a:t>FastAPI</a:t>
            </a:r>
            <a:r>
              <a:rPr lang="en-IN" b="1" dirty="0"/>
              <a:t> Component</a:t>
            </a:r>
            <a:r>
              <a:rPr lang="en-IN" dirty="0"/>
              <a:t> – Connects the </a:t>
            </a:r>
            <a:r>
              <a:rPr lang="en-IN" b="1" dirty="0"/>
              <a:t>React frontend with IBM </a:t>
            </a:r>
            <a:r>
              <a:rPr lang="en-IN" b="1" dirty="0" err="1"/>
              <a:t>watsonx</a:t>
            </a:r>
            <a:r>
              <a:rPr lang="en-IN" b="1" dirty="0"/>
              <a:t> Orchestrate and the AI agents</a:t>
            </a:r>
            <a:r>
              <a:rPr lang="en-IN" dirty="0"/>
              <a:t> through backend APIs.</a:t>
            </a:r>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9" name="Picture 8">
            <a:extLst>
              <a:ext uri="{FF2B5EF4-FFF2-40B4-BE49-F238E27FC236}">
                <a16:creationId xmlns:a16="http://schemas.microsoft.com/office/drawing/2014/main" id="{9A663FF9-4134-24EE-D990-5F8878A5174B}"/>
              </a:ext>
            </a:extLst>
          </p:cNvPr>
          <p:cNvPicPr>
            <a:picLocks noChangeAspect="1"/>
          </p:cNvPicPr>
          <p:nvPr/>
        </p:nvPicPr>
        <p:blipFill>
          <a:blip r:embed="rId3"/>
          <a:stretch>
            <a:fillRect/>
          </a:stretch>
        </p:blipFill>
        <p:spPr>
          <a:xfrm>
            <a:off x="3799840" y="547493"/>
            <a:ext cx="4927599" cy="5817183"/>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8" name="Picture 7">
            <a:extLst>
              <a:ext uri="{FF2B5EF4-FFF2-40B4-BE49-F238E27FC236}">
                <a16:creationId xmlns:a16="http://schemas.microsoft.com/office/drawing/2014/main" id="{862D6E5A-D9CD-0219-475B-A554238AC2A5}"/>
              </a:ext>
            </a:extLst>
          </p:cNvPr>
          <p:cNvPicPr>
            <a:picLocks noChangeAspect="1"/>
          </p:cNvPicPr>
          <p:nvPr/>
        </p:nvPicPr>
        <p:blipFill>
          <a:blip r:embed="rId3"/>
          <a:stretch>
            <a:fillRect/>
          </a:stretch>
        </p:blipFill>
        <p:spPr>
          <a:xfrm>
            <a:off x="537590" y="812233"/>
            <a:ext cx="11172629" cy="572252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939814"/>
          </a:xfrm>
          <a:prstGeom prst="rect">
            <a:avLst/>
          </a:prstGeom>
          <a:noFill/>
        </p:spPr>
        <p:txBody>
          <a:bodyPr wrap="square" rtlCol="0">
            <a:spAutoFit/>
          </a:bodyPr>
          <a:lstStyle/>
          <a:p>
            <a:pPr marL="285750" indent="-285750" algn="just">
              <a:buFont typeface="Arial" panose="020B0604020202020204" pitchFamily="34" charset="0"/>
              <a:buChar char="•"/>
            </a:pPr>
            <a:r>
              <a:rPr lang="en-IN" sz="1500" b="1" dirty="0"/>
              <a:t>Agentic AI</a:t>
            </a:r>
            <a:r>
              <a:rPr lang="en-IN" sz="1500" dirty="0"/>
              <a:t> enables </a:t>
            </a:r>
            <a:r>
              <a:rPr lang="en-IN" sz="1500" b="1" dirty="0" err="1"/>
              <a:t>InterviewMate</a:t>
            </a:r>
            <a:r>
              <a:rPr lang="en-IN" sz="1500" b="1" dirty="0"/>
              <a:t> AI</a:t>
            </a:r>
            <a:r>
              <a:rPr lang="en-IN" sz="1500" dirty="0"/>
              <a:t> to function as an intelligent, autonomous interview-training system rather than a simple chatbot. Using </a:t>
            </a:r>
            <a:r>
              <a:rPr lang="en-IN" sz="1500" b="1" dirty="0"/>
              <a:t>IBM </a:t>
            </a:r>
            <a:r>
              <a:rPr lang="en-IN" sz="1500" b="1" dirty="0" err="1"/>
              <a:t>watsonx</a:t>
            </a:r>
            <a:r>
              <a:rPr lang="en-IN" sz="1500" b="1" dirty="0"/>
              <a:t> Orchestrate</a:t>
            </a:r>
            <a:r>
              <a:rPr lang="en-IN" sz="1500" dirty="0"/>
              <a:t> and </a:t>
            </a:r>
            <a:r>
              <a:rPr lang="en-IN" sz="1500" b="1" dirty="0"/>
              <a:t>IBM Granite models</a:t>
            </a:r>
            <a:r>
              <a:rPr lang="en-IN" sz="1500" dirty="0"/>
              <a:t>, it coordinates multiple specialized agents to provide personalized interview preparation and assessment.</a:t>
            </a:r>
          </a:p>
          <a:p>
            <a:pPr marL="285750" indent="-285750" algn="just">
              <a:buFont typeface="Arial" panose="020B0604020202020204" pitchFamily="34" charset="0"/>
              <a:buChar char="•"/>
            </a:pPr>
            <a:r>
              <a:rPr lang="en-IN" sz="1500" dirty="0"/>
              <a:t>Each agent performs a specific role—such as </a:t>
            </a:r>
            <a:r>
              <a:rPr lang="en-IN" sz="1500" b="1" dirty="0" err="1"/>
              <a:t>analyzing</a:t>
            </a:r>
            <a:r>
              <a:rPr lang="en-IN" sz="1500" b="1" dirty="0"/>
              <a:t> resumes, generating interview questions, conducting mock interviews, and evaluating candidate answers</a:t>
            </a:r>
            <a:r>
              <a:rPr lang="en-IN" sz="1500" dirty="0"/>
              <a:t>—while working collaboratively. This </a:t>
            </a:r>
            <a:r>
              <a:rPr lang="en-IN" sz="1500" b="1" dirty="0"/>
              <a:t>multi-agent approach</a:t>
            </a:r>
            <a:r>
              <a:rPr lang="en-IN" sz="1500" dirty="0"/>
              <a:t> ensures efficient task execution and provides a complete interview-training experience.</a:t>
            </a:r>
          </a:p>
          <a:p>
            <a:pPr marL="285750" indent="-285750" algn="just">
              <a:buFont typeface="Arial" panose="020B0604020202020204" pitchFamily="34" charset="0"/>
              <a:buChar char="•"/>
            </a:pPr>
            <a:r>
              <a:rPr lang="en-IN" sz="1500" dirty="0"/>
              <a:t>Agentic AI also provides </a:t>
            </a:r>
            <a:r>
              <a:rPr lang="en-IN" sz="1500" b="1" dirty="0"/>
              <a:t>context awareness</a:t>
            </a:r>
            <a:r>
              <a:rPr lang="en-IN" sz="1500" dirty="0"/>
              <a:t>, understanding user details such as </a:t>
            </a:r>
            <a:r>
              <a:rPr lang="en-IN" sz="1500" b="1" dirty="0"/>
              <a:t>skills, education, projects, experience, selected job role, and interview preferences</a:t>
            </a:r>
            <a:r>
              <a:rPr lang="en-IN" sz="1500" dirty="0"/>
              <a:t> to generate relevant questions and feedback.</a:t>
            </a:r>
          </a:p>
          <a:p>
            <a:pPr marL="285750" indent="-285750" algn="just">
              <a:buFont typeface="Arial" panose="020B0604020202020204" pitchFamily="34" charset="0"/>
              <a:buChar char="•"/>
            </a:pPr>
            <a:r>
              <a:rPr lang="en-IN" sz="1500" dirty="0"/>
              <a:t>It supports </a:t>
            </a:r>
            <a:r>
              <a:rPr lang="en-IN" sz="1500" b="1" dirty="0"/>
              <a:t>real-time adaptation</a:t>
            </a:r>
            <a:r>
              <a:rPr lang="en-IN" sz="1500" dirty="0"/>
              <a:t> during mock interviews. The </a:t>
            </a:r>
            <a:r>
              <a:rPr lang="en-IN" sz="1500" b="1" dirty="0"/>
              <a:t>Mock Interviewer Agent</a:t>
            </a:r>
            <a:r>
              <a:rPr lang="en-IN" sz="1500" dirty="0"/>
              <a:t> asks questions one at a time and can generate follow-up questions based on the candidate's responses, making the interview more interactive and realistic.</a:t>
            </a:r>
          </a:p>
          <a:p>
            <a:pPr marL="285750" indent="-285750" algn="just">
              <a:buFont typeface="Arial" panose="020B0604020202020204" pitchFamily="34" charset="0"/>
              <a:buChar char="•"/>
            </a:pPr>
            <a:r>
              <a:rPr lang="en-IN" sz="1500" dirty="0"/>
              <a:t>Additionally, agents communicate and coordinate through the </a:t>
            </a:r>
            <a:r>
              <a:rPr lang="en-IN" sz="1500" b="1" dirty="0"/>
              <a:t>Agent-to-Agent (A2A) mechanism</a:t>
            </a:r>
            <a:r>
              <a:rPr lang="en-IN" sz="1500" dirty="0"/>
              <a:t>, allowing information to flow between the Resume Analyzer, Question Generator, Mock Interviewer, and Evaluation agents for better decision-making.</a:t>
            </a:r>
          </a:p>
          <a:p>
            <a:pPr algn="just"/>
            <a:r>
              <a:rPr lang="en-IN" sz="1500" dirty="0"/>
              <a:t>Overall, Agentic AI makes </a:t>
            </a:r>
            <a:r>
              <a:rPr lang="en-IN" sz="1500" b="1" dirty="0" err="1"/>
              <a:t>InterviewMate</a:t>
            </a:r>
            <a:r>
              <a:rPr lang="en-IN" sz="1500" b="1" dirty="0"/>
              <a:t> AI proactive, personalized, adaptive, and goal-driven</a:t>
            </a:r>
            <a:r>
              <a:rPr lang="en-IN" sz="1500" dirty="0"/>
              <a:t>, acting like a </a:t>
            </a:r>
            <a:r>
              <a:rPr lang="en-IN" sz="1500" b="1" dirty="0"/>
              <a:t>smart virtual interview coach</a:t>
            </a:r>
            <a:r>
              <a:rPr lang="en-IN" sz="1500" dirty="0"/>
              <a:t> that helps candidates improve their technical knowledge, communication skills, and interview performance.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203515"/>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Token Usage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793192" y="836870"/>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50 bob coins are used</a:t>
            </a:r>
          </a:p>
        </p:txBody>
      </p:sp>
      <p:sp>
        <p:nvSpPr>
          <p:cNvPr id="15" name="TextBox 14">
            <a:extLst>
              <a:ext uri="{FF2B5EF4-FFF2-40B4-BE49-F238E27FC236}">
                <a16:creationId xmlns:a16="http://schemas.microsoft.com/office/drawing/2014/main" id="{B22EA981-5113-2D05-C1A2-169306E1D47C}"/>
              </a:ext>
            </a:extLst>
          </p:cNvPr>
          <p:cNvSpPr txBox="1"/>
          <p:nvPr/>
        </p:nvSpPr>
        <p:spPr>
          <a:xfrm>
            <a:off x="927872" y="1176732"/>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After all Prompts</a:t>
            </a:r>
          </a:p>
        </p:txBody>
      </p:sp>
      <p:pic>
        <p:nvPicPr>
          <p:cNvPr id="3" name="Picture 2">
            <a:extLst>
              <a:ext uri="{FF2B5EF4-FFF2-40B4-BE49-F238E27FC236}">
                <a16:creationId xmlns:a16="http://schemas.microsoft.com/office/drawing/2014/main" id="{A603339A-59A7-DE7E-D576-1153685861A1}"/>
              </a:ext>
            </a:extLst>
          </p:cNvPr>
          <p:cNvPicPr>
            <a:picLocks noChangeAspect="1"/>
          </p:cNvPicPr>
          <p:nvPr/>
        </p:nvPicPr>
        <p:blipFill>
          <a:blip r:embed="rId3"/>
          <a:stretch>
            <a:fillRect/>
          </a:stretch>
        </p:blipFill>
        <p:spPr>
          <a:xfrm>
            <a:off x="1087120" y="1696488"/>
            <a:ext cx="10017760" cy="4822978"/>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549B89F-FED5-AD18-0DBC-F5A549BB7800}"/>
              </a:ext>
            </a:extLst>
          </p:cNvPr>
          <p:cNvSpPr txBox="1"/>
          <p:nvPr/>
        </p:nvSpPr>
        <p:spPr>
          <a:xfrm>
            <a:off x="264160" y="0"/>
            <a:ext cx="3027680" cy="492443"/>
          </a:xfrm>
          <a:prstGeom prst="rect">
            <a:avLst/>
          </a:prstGeom>
          <a:noFill/>
        </p:spPr>
        <p:txBody>
          <a:bodyPr wrap="square" rtlCol="0">
            <a:spAutoFit/>
          </a:bodyPr>
          <a:lstStyle/>
          <a:p>
            <a:r>
              <a:rPr lang="en-US" sz="2600" b="1" dirty="0" err="1"/>
              <a:t>ScreenShots</a:t>
            </a:r>
            <a:r>
              <a:rPr lang="en-US" sz="2600" b="1" dirty="0"/>
              <a:t>:</a:t>
            </a:r>
            <a:endParaRPr lang="en-IN" sz="2600" b="1" dirty="0"/>
          </a:p>
        </p:txBody>
      </p:sp>
      <p:pic>
        <p:nvPicPr>
          <p:cNvPr id="6" name="Picture 5">
            <a:extLst>
              <a:ext uri="{FF2B5EF4-FFF2-40B4-BE49-F238E27FC236}">
                <a16:creationId xmlns:a16="http://schemas.microsoft.com/office/drawing/2014/main" id="{375CC6C6-4BF5-8B5F-0A30-28E5E5006F9B}"/>
              </a:ext>
            </a:extLst>
          </p:cNvPr>
          <p:cNvPicPr>
            <a:picLocks noChangeAspect="1"/>
          </p:cNvPicPr>
          <p:nvPr/>
        </p:nvPicPr>
        <p:blipFill>
          <a:blip r:embed="rId2"/>
          <a:stretch>
            <a:fillRect/>
          </a:stretch>
        </p:blipFill>
        <p:spPr>
          <a:xfrm>
            <a:off x="403600" y="739650"/>
            <a:ext cx="5357120" cy="2803206"/>
          </a:xfrm>
          <a:prstGeom prst="rect">
            <a:avLst/>
          </a:prstGeom>
        </p:spPr>
      </p:pic>
      <p:pic>
        <p:nvPicPr>
          <p:cNvPr id="14" name="Picture 13">
            <a:extLst>
              <a:ext uri="{FF2B5EF4-FFF2-40B4-BE49-F238E27FC236}">
                <a16:creationId xmlns:a16="http://schemas.microsoft.com/office/drawing/2014/main" id="{CE6E74D0-E08A-691E-6C58-E275D2694FFE}"/>
              </a:ext>
            </a:extLst>
          </p:cNvPr>
          <p:cNvPicPr>
            <a:picLocks noChangeAspect="1"/>
          </p:cNvPicPr>
          <p:nvPr/>
        </p:nvPicPr>
        <p:blipFill>
          <a:blip r:embed="rId3"/>
          <a:stretch>
            <a:fillRect/>
          </a:stretch>
        </p:blipFill>
        <p:spPr>
          <a:xfrm>
            <a:off x="6125262" y="739650"/>
            <a:ext cx="5663138" cy="2874404"/>
          </a:xfrm>
          <a:prstGeom prst="rect">
            <a:avLst/>
          </a:prstGeom>
        </p:spPr>
      </p:pic>
      <p:pic>
        <p:nvPicPr>
          <p:cNvPr id="16" name="Picture 15">
            <a:extLst>
              <a:ext uri="{FF2B5EF4-FFF2-40B4-BE49-F238E27FC236}">
                <a16:creationId xmlns:a16="http://schemas.microsoft.com/office/drawing/2014/main" id="{37E1227B-767A-D563-9FCE-DDA7589CD449}"/>
              </a:ext>
            </a:extLst>
          </p:cNvPr>
          <p:cNvPicPr>
            <a:picLocks noChangeAspect="1"/>
          </p:cNvPicPr>
          <p:nvPr/>
        </p:nvPicPr>
        <p:blipFill>
          <a:blip r:embed="rId4"/>
          <a:stretch>
            <a:fillRect/>
          </a:stretch>
        </p:blipFill>
        <p:spPr>
          <a:xfrm>
            <a:off x="432691" y="3789421"/>
            <a:ext cx="5462879" cy="2752835"/>
          </a:xfrm>
          <a:prstGeom prst="rect">
            <a:avLst/>
          </a:prstGeom>
        </p:spPr>
      </p:pic>
      <p:pic>
        <p:nvPicPr>
          <p:cNvPr id="18" name="Picture 17">
            <a:extLst>
              <a:ext uri="{FF2B5EF4-FFF2-40B4-BE49-F238E27FC236}">
                <a16:creationId xmlns:a16="http://schemas.microsoft.com/office/drawing/2014/main" id="{DBF01156-088B-99F7-65B2-77E573CA8387}"/>
              </a:ext>
            </a:extLst>
          </p:cNvPr>
          <p:cNvPicPr>
            <a:picLocks noChangeAspect="1"/>
          </p:cNvPicPr>
          <p:nvPr/>
        </p:nvPicPr>
        <p:blipFill>
          <a:blip r:embed="rId5"/>
          <a:stretch>
            <a:fillRect/>
          </a:stretch>
        </p:blipFill>
        <p:spPr>
          <a:xfrm>
            <a:off x="6296430" y="3802364"/>
            <a:ext cx="5462879" cy="2676580"/>
          </a:xfrm>
          <a:prstGeom prst="rect">
            <a:avLst/>
          </a:prstGeom>
        </p:spPr>
      </p:pic>
    </p:spTree>
    <p:extLst>
      <p:ext uri="{BB962C8B-B14F-4D97-AF65-F5344CB8AC3E}">
        <p14:creationId xmlns:p14="http://schemas.microsoft.com/office/powerpoint/2010/main" val="2809712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142D4D7-6FEE-688C-DABC-E38EE6EDCBAC}"/>
              </a:ext>
            </a:extLst>
          </p:cNvPr>
          <p:cNvPicPr>
            <a:picLocks noChangeAspect="1"/>
          </p:cNvPicPr>
          <p:nvPr/>
        </p:nvPicPr>
        <p:blipFill>
          <a:blip r:embed="rId2"/>
          <a:stretch>
            <a:fillRect/>
          </a:stretch>
        </p:blipFill>
        <p:spPr>
          <a:xfrm>
            <a:off x="6263846" y="3565843"/>
            <a:ext cx="5486400" cy="2665071"/>
          </a:xfrm>
          <a:prstGeom prst="rect">
            <a:avLst/>
          </a:prstGeom>
        </p:spPr>
      </p:pic>
      <p:pic>
        <p:nvPicPr>
          <p:cNvPr id="13" name="Picture 12">
            <a:extLst>
              <a:ext uri="{FF2B5EF4-FFF2-40B4-BE49-F238E27FC236}">
                <a16:creationId xmlns:a16="http://schemas.microsoft.com/office/drawing/2014/main" id="{5EE8EF2B-E2C3-18F4-6CD0-CFE9D111EAC6}"/>
              </a:ext>
            </a:extLst>
          </p:cNvPr>
          <p:cNvPicPr>
            <a:picLocks noChangeAspect="1"/>
          </p:cNvPicPr>
          <p:nvPr/>
        </p:nvPicPr>
        <p:blipFill>
          <a:blip r:embed="rId3"/>
          <a:stretch>
            <a:fillRect/>
          </a:stretch>
        </p:blipFill>
        <p:spPr>
          <a:xfrm>
            <a:off x="644171" y="3660508"/>
            <a:ext cx="5357120" cy="2570406"/>
          </a:xfrm>
          <a:prstGeom prst="rect">
            <a:avLst/>
          </a:prstGeom>
        </p:spPr>
      </p:pic>
      <p:pic>
        <p:nvPicPr>
          <p:cNvPr id="15" name="Picture 14">
            <a:extLst>
              <a:ext uri="{FF2B5EF4-FFF2-40B4-BE49-F238E27FC236}">
                <a16:creationId xmlns:a16="http://schemas.microsoft.com/office/drawing/2014/main" id="{21F4E16F-CF2B-DB68-3942-1BDC4C6A50F0}"/>
              </a:ext>
            </a:extLst>
          </p:cNvPr>
          <p:cNvPicPr>
            <a:picLocks noChangeAspect="1"/>
          </p:cNvPicPr>
          <p:nvPr/>
        </p:nvPicPr>
        <p:blipFill>
          <a:blip r:embed="rId4"/>
          <a:stretch>
            <a:fillRect/>
          </a:stretch>
        </p:blipFill>
        <p:spPr>
          <a:xfrm>
            <a:off x="6403883" y="484211"/>
            <a:ext cx="5357120" cy="2803207"/>
          </a:xfrm>
          <a:prstGeom prst="rect">
            <a:avLst/>
          </a:prstGeom>
        </p:spPr>
      </p:pic>
      <p:pic>
        <p:nvPicPr>
          <p:cNvPr id="17" name="Picture 16">
            <a:extLst>
              <a:ext uri="{FF2B5EF4-FFF2-40B4-BE49-F238E27FC236}">
                <a16:creationId xmlns:a16="http://schemas.microsoft.com/office/drawing/2014/main" id="{FBADA4BC-40A3-6A04-B127-5425D9D6B030}"/>
              </a:ext>
            </a:extLst>
          </p:cNvPr>
          <p:cNvPicPr>
            <a:picLocks noChangeAspect="1"/>
          </p:cNvPicPr>
          <p:nvPr/>
        </p:nvPicPr>
        <p:blipFill>
          <a:blip r:embed="rId5"/>
          <a:stretch>
            <a:fillRect/>
          </a:stretch>
        </p:blipFill>
        <p:spPr>
          <a:xfrm>
            <a:off x="432860" y="472550"/>
            <a:ext cx="5663140" cy="2724942"/>
          </a:xfrm>
          <a:prstGeom prst="rect">
            <a:avLst/>
          </a:prstGeom>
        </p:spPr>
      </p:pic>
    </p:spTree>
    <p:extLst>
      <p:ext uri="{BB962C8B-B14F-4D97-AF65-F5344CB8AC3E}">
        <p14:creationId xmlns:p14="http://schemas.microsoft.com/office/powerpoint/2010/main" val="3632693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C4C7013-AFC1-9D89-4428-5B5E06A49790}"/>
              </a:ext>
            </a:extLst>
          </p:cNvPr>
          <p:cNvPicPr>
            <a:picLocks noChangeAspect="1"/>
          </p:cNvPicPr>
          <p:nvPr/>
        </p:nvPicPr>
        <p:blipFill>
          <a:blip r:embed="rId2"/>
          <a:stretch>
            <a:fillRect/>
          </a:stretch>
        </p:blipFill>
        <p:spPr>
          <a:xfrm>
            <a:off x="525707" y="3429000"/>
            <a:ext cx="5570293" cy="2690115"/>
          </a:xfrm>
          <a:prstGeom prst="rect">
            <a:avLst/>
          </a:prstGeom>
        </p:spPr>
      </p:pic>
      <p:pic>
        <p:nvPicPr>
          <p:cNvPr id="5" name="Picture 4">
            <a:extLst>
              <a:ext uri="{FF2B5EF4-FFF2-40B4-BE49-F238E27FC236}">
                <a16:creationId xmlns:a16="http://schemas.microsoft.com/office/drawing/2014/main" id="{82B64731-837C-B82A-D215-754697448919}"/>
              </a:ext>
            </a:extLst>
          </p:cNvPr>
          <p:cNvPicPr>
            <a:picLocks noChangeAspect="1"/>
          </p:cNvPicPr>
          <p:nvPr/>
        </p:nvPicPr>
        <p:blipFill>
          <a:blip r:embed="rId3"/>
          <a:stretch>
            <a:fillRect/>
          </a:stretch>
        </p:blipFill>
        <p:spPr>
          <a:xfrm>
            <a:off x="493058" y="529726"/>
            <a:ext cx="5602942" cy="2690115"/>
          </a:xfrm>
          <a:prstGeom prst="rect">
            <a:avLst/>
          </a:prstGeom>
        </p:spPr>
      </p:pic>
      <p:pic>
        <p:nvPicPr>
          <p:cNvPr id="7" name="Picture 6">
            <a:extLst>
              <a:ext uri="{FF2B5EF4-FFF2-40B4-BE49-F238E27FC236}">
                <a16:creationId xmlns:a16="http://schemas.microsoft.com/office/drawing/2014/main" id="{573DF43E-828D-F238-763C-A352A0D73E08}"/>
              </a:ext>
            </a:extLst>
          </p:cNvPr>
          <p:cNvPicPr>
            <a:picLocks noChangeAspect="1"/>
          </p:cNvPicPr>
          <p:nvPr/>
        </p:nvPicPr>
        <p:blipFill>
          <a:blip r:embed="rId4"/>
          <a:stretch>
            <a:fillRect/>
          </a:stretch>
        </p:blipFill>
        <p:spPr>
          <a:xfrm>
            <a:off x="6420364" y="529726"/>
            <a:ext cx="5537956" cy="2690115"/>
          </a:xfrm>
          <a:prstGeom prst="rect">
            <a:avLst/>
          </a:prstGeom>
        </p:spPr>
      </p:pic>
    </p:spTree>
    <p:extLst>
      <p:ext uri="{BB962C8B-B14F-4D97-AF65-F5344CB8AC3E}">
        <p14:creationId xmlns:p14="http://schemas.microsoft.com/office/powerpoint/2010/main" val="7881171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105408"/>
            <a:ext cx="11301984" cy="5509200"/>
          </a:xfrm>
          <a:prstGeom prst="rect">
            <a:avLst/>
          </a:prstGeom>
          <a:noFill/>
        </p:spPr>
        <p:txBody>
          <a:bodyPr wrap="square" rtlCol="0">
            <a:spAutoFit/>
          </a:bodyPr>
          <a:lstStyle/>
          <a:p>
            <a:pPr marL="285750" indent="-285750">
              <a:buFont typeface="Arial" panose="020B0604020202020204" pitchFamily="34" charset="0"/>
              <a:buChar char="•"/>
            </a:pPr>
            <a:r>
              <a:rPr lang="en-IN" sz="1600" dirty="0"/>
              <a:t>The proposed </a:t>
            </a:r>
            <a:r>
              <a:rPr lang="en-IN" sz="1600" b="1" dirty="0" err="1"/>
              <a:t>InterviewMate</a:t>
            </a:r>
            <a:r>
              <a:rPr lang="en-IN" sz="1600" b="1" dirty="0"/>
              <a:t> AI</a:t>
            </a:r>
            <a:r>
              <a:rPr lang="en-IN" sz="1600" dirty="0"/>
              <a:t> stands out by combining </a:t>
            </a:r>
            <a:r>
              <a:rPr lang="en-IN" sz="1600" b="1" dirty="0"/>
              <a:t>Agentic AI, RAG, personalization, and adaptive mock interviews</a:t>
            </a:r>
            <a:r>
              <a:rPr lang="en-IN" sz="1600" dirty="0"/>
              <a:t> into a single intelligent interview-training system.</a:t>
            </a:r>
          </a:p>
          <a:p>
            <a:pPr marL="285750" indent="-285750">
              <a:buFont typeface="Arial" panose="020B0604020202020204" pitchFamily="34" charset="0"/>
              <a:buChar char="•"/>
            </a:pPr>
            <a:r>
              <a:rPr lang="en-IN" sz="1600" b="1" dirty="0"/>
              <a:t>Multi-Agent Intelligence</a:t>
            </a:r>
            <a:r>
              <a:rPr lang="en-IN" sz="1600" dirty="0"/>
              <a:t> – Instead of relying on a single chatbot, multiple specialized agents collaborate. The </a:t>
            </a:r>
            <a:r>
              <a:rPr lang="en-IN" sz="1600" b="1" dirty="0"/>
              <a:t>Resume Analyzer, Question Generator, Mock Interviewer, and Evaluation Agent</a:t>
            </a:r>
            <a:r>
              <a:rPr lang="en-IN" sz="1600" dirty="0"/>
              <a:t> work together through the Orchestrator to provide an end-to-end interview experience.</a:t>
            </a:r>
          </a:p>
          <a:p>
            <a:pPr marL="285750" indent="-285750">
              <a:buFont typeface="Arial" panose="020B0604020202020204" pitchFamily="34" charset="0"/>
              <a:buChar char="•"/>
            </a:pPr>
            <a:r>
              <a:rPr lang="en-IN" sz="1600" b="1" dirty="0"/>
              <a:t>RAG-Based Question Generation</a:t>
            </a:r>
            <a:r>
              <a:rPr lang="en-IN" sz="1600" dirty="0"/>
              <a:t> – Integrates a dedicated interview knowledge base containing </a:t>
            </a:r>
            <a:r>
              <a:rPr lang="en-IN" sz="1600" b="1" dirty="0"/>
              <a:t>Python, ML/AI, SQL, DSA, HR, </a:t>
            </a:r>
            <a:r>
              <a:rPr lang="en-IN" sz="1600" b="1" dirty="0" err="1"/>
              <a:t>behavioral</a:t>
            </a:r>
            <a:r>
              <a:rPr lang="en-IN" sz="1600" b="1" dirty="0"/>
              <a:t>, and role-expectation content</a:t>
            </a:r>
            <a:r>
              <a:rPr lang="en-IN" sz="1600" dirty="0"/>
              <a:t> to generate relevant and context-aware questions.</a:t>
            </a:r>
          </a:p>
          <a:p>
            <a:pPr marL="285750" indent="-285750">
              <a:buFont typeface="Arial" panose="020B0604020202020204" pitchFamily="34" charset="0"/>
              <a:buChar char="•"/>
            </a:pPr>
            <a:r>
              <a:rPr lang="en-IN" sz="1600" b="1" dirty="0"/>
              <a:t>Resume-Based Personalization</a:t>
            </a:r>
            <a:r>
              <a:rPr lang="en-IN" sz="1600" dirty="0"/>
              <a:t> – Questions are tailored to the candidate's </a:t>
            </a:r>
            <a:r>
              <a:rPr lang="en-IN" sz="1600" b="1" dirty="0"/>
              <a:t>skills, education, projects, certifications, experience, and selected job role</a:t>
            </a:r>
            <a:r>
              <a:rPr lang="en-IN" sz="1600" dirty="0"/>
              <a:t>, rather than providing the same questions to every user.</a:t>
            </a:r>
          </a:p>
          <a:p>
            <a:pPr marL="285750" indent="-285750">
              <a:buFont typeface="Arial" panose="020B0604020202020204" pitchFamily="34" charset="0"/>
              <a:buChar char="•"/>
            </a:pPr>
            <a:r>
              <a:rPr lang="en-IN" sz="1600" b="1" dirty="0"/>
              <a:t>Adaptive Mock Interview</a:t>
            </a:r>
            <a:r>
              <a:rPr lang="en-IN" sz="1600" dirty="0"/>
              <a:t> – The Mock Interviewer conducts the interview </a:t>
            </a:r>
            <a:r>
              <a:rPr lang="en-IN" sz="1600" b="1" dirty="0"/>
              <a:t>one question at a time</a:t>
            </a:r>
            <a:r>
              <a:rPr lang="en-IN" sz="1600" dirty="0"/>
              <a:t> and can adapt follow-up questions based on the candidate's responses, making the experience closer to a real interview.</a:t>
            </a:r>
          </a:p>
          <a:p>
            <a:pPr marL="285750" indent="-285750">
              <a:buFont typeface="Arial" panose="020B0604020202020204" pitchFamily="34" charset="0"/>
              <a:buChar char="•"/>
            </a:pPr>
            <a:r>
              <a:rPr lang="en-IN" sz="1600" b="1" dirty="0"/>
              <a:t>IBM-Powered Answer Evaluation</a:t>
            </a:r>
            <a:r>
              <a:rPr lang="en-IN" sz="1600" dirty="0"/>
              <a:t> – The Evaluation Agent </a:t>
            </a:r>
            <a:r>
              <a:rPr lang="en-IN" sz="1600" dirty="0" err="1"/>
              <a:t>analyzes</a:t>
            </a:r>
            <a:r>
              <a:rPr lang="en-IN" sz="1600" dirty="0"/>
              <a:t> each response across multiple dimensions such as </a:t>
            </a:r>
            <a:r>
              <a:rPr lang="en-IN" sz="1600" b="1" dirty="0"/>
              <a:t>technical accuracy, relevance, completeness, clarity, and depth of understanding</a:t>
            </a:r>
            <a:r>
              <a:rPr lang="en-IN" sz="1600" dirty="0"/>
              <a:t>, and provides actionable feedback.</a:t>
            </a:r>
          </a:p>
          <a:p>
            <a:pPr marL="285750" indent="-285750">
              <a:buFont typeface="Arial" panose="020B0604020202020204" pitchFamily="34" charset="0"/>
              <a:buChar char="•"/>
            </a:pPr>
            <a:r>
              <a:rPr lang="en-IN" sz="1600" b="1" dirty="0"/>
              <a:t>Personalized Improvement Loop</a:t>
            </a:r>
            <a:r>
              <a:rPr lang="en-IN" sz="1600" dirty="0"/>
              <a:t> – Instead of only giving a score, the system identifies </a:t>
            </a:r>
            <a:r>
              <a:rPr lang="en-IN" sz="1600" b="1" dirty="0"/>
              <a:t>strengths, weaknesses, improvement areas, and suggested better answers</a:t>
            </a:r>
            <a:r>
              <a:rPr lang="en-IN" sz="1600" dirty="0"/>
              <a:t>, helping the candidate continuously improve.</a:t>
            </a:r>
          </a:p>
          <a:p>
            <a:pPr marL="285750" indent="-285750">
              <a:buFont typeface="Arial" panose="020B0604020202020204" pitchFamily="34" charset="0"/>
              <a:buChar char="•"/>
            </a:pPr>
            <a:r>
              <a:rPr lang="en-IN" sz="1600" b="1" dirty="0"/>
              <a:t>Multi-Modal Interview Support</a:t>
            </a:r>
            <a:r>
              <a:rPr lang="en-IN" sz="1600" dirty="0"/>
              <a:t> – The platform can support </a:t>
            </a:r>
            <a:r>
              <a:rPr lang="en-IN" sz="1600" b="1" dirty="0"/>
              <a:t>text and voice-based interaction</a:t>
            </a:r>
            <a:r>
              <a:rPr lang="en-IN" sz="1600" dirty="0"/>
              <a:t>, allowing candidates to practice interviews in a more natural way.</a:t>
            </a:r>
          </a:p>
          <a:p>
            <a:pPr marL="285750" indent="-285750">
              <a:buFont typeface="Arial" panose="020B0604020202020204" pitchFamily="34" charset="0"/>
              <a:buChar char="•"/>
            </a:pPr>
            <a:r>
              <a:rPr lang="en-IN" sz="1600" b="1" dirty="0"/>
              <a:t>End-to-End Agentic Workflow</a:t>
            </a:r>
            <a:r>
              <a:rPr lang="en-IN" sz="1600" dirty="0"/>
              <a:t> – The complete process—from </a:t>
            </a:r>
            <a:r>
              <a:rPr lang="en-IN" sz="1600" b="1" dirty="0"/>
              <a:t>resume analysis → question generation → mock interview → evaluation → feedback</a:t>
            </a:r>
            <a:r>
              <a:rPr lang="en-IN" sz="1600" dirty="0"/>
              <a:t>—is coordinated by IBM </a:t>
            </a:r>
            <a:r>
              <a:rPr lang="en-IN" sz="1600" dirty="0" err="1"/>
              <a:t>watsonx</a:t>
            </a:r>
            <a:r>
              <a:rPr lang="en-IN" sz="1600" dirty="0"/>
              <a:t> Orchestrate and specialized AI agents.</a:t>
            </a:r>
          </a:p>
          <a:p>
            <a:r>
              <a:rPr lang="en-IN" sz="1600" dirty="0"/>
              <a:t>Overall, the uniqueness of </a:t>
            </a:r>
            <a:r>
              <a:rPr lang="en-IN" sz="1600" b="1" dirty="0" err="1"/>
              <a:t>InterviewMate</a:t>
            </a:r>
            <a:r>
              <a:rPr lang="en-IN" sz="1600" b="1" dirty="0"/>
              <a:t> AI</a:t>
            </a:r>
            <a:r>
              <a:rPr lang="en-IN" sz="1600" dirty="0"/>
              <a:t> lies in transforming interview preparation from a </a:t>
            </a:r>
            <a:r>
              <a:rPr lang="en-IN" sz="1600" b="1" dirty="0"/>
              <a:t>static question-answer chatbot into a personalized, adaptive, and goal-driven AI interview coach</a:t>
            </a:r>
            <a:r>
              <a:rPr lang="en-IN" sz="1600" dirty="0"/>
              <a:t>.</a:t>
            </a:r>
          </a:p>
        </p:txBody>
      </p:sp>
    </p:spTree>
    <p:extLst>
      <p:ext uri="{BB962C8B-B14F-4D97-AF65-F5344CB8AC3E}">
        <p14:creationId xmlns:p14="http://schemas.microsoft.com/office/powerpoint/2010/main" val="917964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476431"/>
            <a:ext cx="8787384" cy="766049"/>
          </a:xfrm>
          <a:prstGeom prst="rect">
            <a:avLst/>
          </a:prstGeom>
          <a:noFill/>
          <a:ln>
            <a:noFill/>
          </a:ln>
        </p:spPr>
        <p:txBody>
          <a:bodyPr spcFirstLastPara="1" wrap="square" lIns="0" tIns="0" rIns="0" bIns="0" anchor="t" anchorCtr="0">
            <a:noAutofit/>
          </a:bodyPr>
          <a:lstStyle/>
          <a:p>
            <a:pPr lvl="0">
              <a:buClr>
                <a:srgbClr val="2B3541"/>
              </a:buClr>
              <a:buSzPts val="1850"/>
            </a:pPr>
            <a:r>
              <a:rPr lang="en-US" sz="2400" dirty="0" err="1">
                <a:solidFill>
                  <a:srgbClr val="2B3541"/>
                </a:solidFill>
                <a:latin typeface="Times New Roman"/>
                <a:ea typeface="Times New Roman"/>
                <a:cs typeface="Times New Roman"/>
                <a:sym typeface="Times New Roman"/>
              </a:rPr>
              <a:t>Github</a:t>
            </a:r>
            <a:r>
              <a:rPr lang="en-US" sz="2400" dirty="0">
                <a:solidFill>
                  <a:srgbClr val="2B3541"/>
                </a:solidFill>
                <a:latin typeface="Times New Roman"/>
                <a:ea typeface="Times New Roman"/>
                <a:cs typeface="Times New Roman"/>
                <a:sym typeface="Times New Roman"/>
              </a:rPr>
              <a:t> URL –</a:t>
            </a:r>
            <a:r>
              <a:rPr lang="en-IN" sz="2400" dirty="0">
                <a:hlinkClick r:id="rId3"/>
              </a:rPr>
              <a:t>Mounika2515/</a:t>
            </a:r>
            <a:r>
              <a:rPr lang="en-IN" sz="2400" dirty="0" err="1">
                <a:hlinkClick r:id="rId3"/>
              </a:rPr>
              <a:t>InterviewMate</a:t>
            </a:r>
            <a:r>
              <a:rPr lang="en-IN" sz="2400" dirty="0">
                <a:hlinkClick r:id="rId3"/>
              </a:rPr>
              <a:t>-AI</a:t>
            </a:r>
            <a:endParaRPr lang="en-US" sz="2400" dirty="0">
              <a:solidFill>
                <a:srgbClr val="2B3541"/>
              </a:solidFill>
              <a:latin typeface="Times New Roman"/>
              <a:ea typeface="Times New Roman"/>
              <a:cs typeface="Times New Roman"/>
            </a:endParaRPr>
          </a:p>
          <a:p>
            <a:pPr lvl="0">
              <a:lnSpc>
                <a:spcPct val="162162"/>
              </a:lnSpc>
              <a:buClr>
                <a:srgbClr val="2B3541"/>
              </a:buClr>
              <a:buSzPts val="1850"/>
            </a:pPr>
            <a:endParaRPr lang="en-US" sz="240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79082"/>
            <a:ext cx="9346184" cy="4299836"/>
          </a:xfrm>
          <a:prstGeom prst="rect">
            <a:avLst/>
          </a:prstGeom>
          <a:noFill/>
          <a:ln>
            <a:noFill/>
          </a:ln>
        </p:spPr>
        <p:txBody>
          <a:bodyPr spcFirstLastPara="1" wrap="square" lIns="0" tIns="0" rIns="0" bIns="0" anchor="t" anchorCtr="0">
            <a:noAutofit/>
          </a:bodyPr>
          <a:lstStyle/>
          <a:p>
            <a:r>
              <a:rPr lang="en-IN" sz="2000" b="1" dirty="0"/>
              <a:t>1. Integration with Job Portals &amp; Professional Platforms –</a:t>
            </a:r>
            <a:endParaRPr lang="en-IN" sz="2000" dirty="0"/>
          </a:p>
          <a:p>
            <a:r>
              <a:rPr lang="en-IN" sz="2000" dirty="0"/>
              <a:t>The system can be integrated with job portals and professional networking platforms to collect job descriptions, required skills, experience requirements, and role-specific expectations. This will enable </a:t>
            </a:r>
            <a:r>
              <a:rPr lang="en-IN" sz="2000" dirty="0" err="1"/>
              <a:t>InterviewMate</a:t>
            </a:r>
            <a:r>
              <a:rPr lang="en-IN" sz="2000" dirty="0"/>
              <a:t> AI to generate more relevant and personalized interview questions based on current industry requirements and specific job opportunities.</a:t>
            </a:r>
          </a:p>
          <a:p>
            <a:endParaRPr lang="en-IN" sz="2000" dirty="0"/>
          </a:p>
          <a:p>
            <a:r>
              <a:rPr lang="en-IN" sz="2000" b="1" dirty="0"/>
              <a:t>2. AI-Powered Voice Interview &amp; Multilingual Support –</a:t>
            </a:r>
            <a:endParaRPr lang="en-IN" sz="2000" dirty="0"/>
          </a:p>
          <a:p>
            <a:r>
              <a:rPr lang="en-IN" sz="2000" dirty="0"/>
              <a:t>Enhancing the system with a voice-enabled mock interview assistant and multilingual support will improve accessibility and provide a more realistic interview experience. Users can interact with the AI interviewer using their voice and practice interviews in their preferred language, making the platform more interactive, inclusive, and suitable for candidates from diverse backgrounds.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452485AD-C648-477B-7C6E-85EB7ADB5AD8}"/>
              </a:ext>
            </a:extLst>
          </p:cNvPr>
          <p:cNvPicPr>
            <a:picLocks noChangeAspect="1"/>
          </p:cNvPicPr>
          <p:nvPr/>
        </p:nvPicPr>
        <p:blipFill>
          <a:blip r:embed="rId2"/>
          <a:stretch>
            <a:fillRect/>
          </a:stretch>
        </p:blipFill>
        <p:spPr>
          <a:xfrm>
            <a:off x="2444022" y="1215695"/>
            <a:ext cx="7303955" cy="564230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8" name="Picture 7">
            <a:extLst>
              <a:ext uri="{FF2B5EF4-FFF2-40B4-BE49-F238E27FC236}">
                <a16:creationId xmlns:a16="http://schemas.microsoft.com/office/drawing/2014/main" id="{AB61487B-1C97-CA2B-B7D6-078557B58BA0}"/>
              </a:ext>
            </a:extLst>
          </p:cNvPr>
          <p:cNvPicPr>
            <a:picLocks noChangeAspect="1"/>
          </p:cNvPicPr>
          <p:nvPr/>
        </p:nvPicPr>
        <p:blipFill>
          <a:blip r:embed="rId2"/>
          <a:stretch>
            <a:fillRect/>
          </a:stretch>
        </p:blipFill>
        <p:spPr>
          <a:xfrm>
            <a:off x="1479716" y="1897695"/>
            <a:ext cx="9585960" cy="415983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2078</Words>
  <Application>Microsoft Office PowerPoint</Application>
  <PresentationFormat>Widescreen</PresentationFormat>
  <Paragraphs>131</Paragraphs>
  <Slides>19</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mounika karri</cp:lastModifiedBy>
  <cp:revision>13</cp:revision>
  <dcterms:created xsi:type="dcterms:W3CDTF">2025-07-08T05:06:56Z</dcterms:created>
  <dcterms:modified xsi:type="dcterms:W3CDTF">2026-09-10T17:19:38Z</dcterms:modified>
</cp:coreProperties>
</file>